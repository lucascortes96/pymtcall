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3BC46-5E42-B249-AAB0-AACA9CAB1F0D}" v="1" dt="2026-03-04T16:49:47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8"/>
    <p:restoredTop sz="94721"/>
  </p:normalViewPr>
  <p:slideViewPr>
    <p:cSldViewPr snapToGrid="0">
      <p:cViewPr varScale="1">
        <p:scale>
          <a:sx n="90" d="100"/>
          <a:sy n="90" d="100"/>
        </p:scale>
        <p:origin x="23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Cortes" userId="6220101dfafeb237" providerId="LiveId" clId="{E043BC46-5E42-B249-AAB0-AACA9CAB1F0D}"/>
    <pc:docChg chg="custSel modSld">
      <pc:chgData name="Lucas Cortes" userId="6220101dfafeb237" providerId="LiveId" clId="{E043BC46-5E42-B249-AAB0-AACA9CAB1F0D}" dt="2026-03-04T16:49:50.960" v="1" actId="478"/>
      <pc:docMkLst>
        <pc:docMk/>
      </pc:docMkLst>
      <pc:sldChg chg="addSp delSp modSp mod">
        <pc:chgData name="Lucas Cortes" userId="6220101dfafeb237" providerId="LiveId" clId="{E043BC46-5E42-B249-AAB0-AACA9CAB1F0D}" dt="2026-03-04T16:49:50.960" v="1" actId="478"/>
        <pc:sldMkLst>
          <pc:docMk/>
          <pc:sldMk cId="212056950" sldId="273"/>
        </pc:sldMkLst>
        <pc:picChg chg="add del mod">
          <ac:chgData name="Lucas Cortes" userId="6220101dfafeb237" providerId="LiveId" clId="{E043BC46-5E42-B249-AAB0-AACA9CAB1F0D}" dt="2026-03-04T16:49:50.960" v="1" actId="478"/>
          <ac:picMkLst>
            <pc:docMk/>
            <pc:sldMk cId="212056950" sldId="273"/>
            <ac:picMk id="3" creationId="{B1B439A7-EA95-CA3F-4F93-90F509CC3F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8774-E087-7455-E20F-33EEA4C5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129A0-33BF-397E-26E3-D8E4E9F48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2F579-DB8B-1253-6199-7CBE715C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EB0DA-EB49-4219-323B-5C8669C7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C23B-90DC-D031-FA14-FE09B818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ACA4-1BB2-2806-64BD-9704AEB2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811F0-0F37-AD18-04D7-53C1138D3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BCEAA-9BC8-DB02-62FB-24FB6C2F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A88E-6F8B-8979-05A6-E0886F30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3E24B-38B1-F4BD-E6BE-357A2E8E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3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CCC6-2107-85D1-DC60-7651830C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4AA03-50AA-D99B-7879-F4EBD2F7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0D093-6ACB-9D1E-51A2-7C9E78E5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4C16F-1F07-55F7-2E38-C2043193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C217B-62D0-AA2E-FA74-AA8A7E54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73E9-2E0C-2538-3128-055D0C69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8062-8F79-27AF-1104-165DCAF57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0449D-C002-7B4B-A3A6-BCB6A62B6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FEFD6-F998-041B-C8E6-581B2BE4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36377-048B-AC85-6764-20654A5B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CFC6D-C91E-2F63-7299-E98848A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1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2E92-ED1E-471D-5BB0-6636A3A8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3230-354D-FA89-CDC6-856EC4C1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F3CED-AF5F-5495-FFF2-C0B9E6A31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F7ECF-ACCB-1DAC-C535-C4974E4FE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DDD42-C6B4-28AB-12D0-F68EA13D4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5A7AB-F3C0-B4F9-63C0-A25B3AE8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AA0A7-EDAE-3831-69E1-15A58989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C956E-B36C-F9BF-9943-2DD9ED50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7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8B27-092D-F54F-B932-B17F5F4F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73D9F-F4D5-EAB9-7736-4C7E0573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16FC7-0454-36F8-BCB2-EE6C7FAE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DF1D3-32B9-DE0F-C1D8-2939E655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8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95A35-9EB2-7EB5-D527-CDE7DE7F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D1B0E-CDD8-E4F5-2999-011D2CAA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00070-1B38-8F3C-B54C-8505EB22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8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3833-F689-CE14-A082-C9E8861D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5D96A-088A-C44E-A090-B28485C38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9011E-5C52-6849-FF37-4D0706755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F9D7A-75EA-0765-99C2-74B12506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D24F5-0245-D8A6-A142-A08F3CEB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F52C6-A5D1-3DDF-C479-3549C9EB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B1EC-CD33-1669-AAB7-F7B9188B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525270-FCE9-3061-149D-DDB07AAC0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DB581-BE37-82B9-FDD2-281496A5D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AF516-5B99-615D-D6B8-C746D6EE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95A0C-5F4B-8FC2-5660-83E0BBC2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A058C-F67A-A91E-0424-810D54C1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9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2F16-3B91-3810-CBB9-05CDFD7E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29718-C619-04B1-9550-BF4FBC20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DC34-372C-2C56-DB0D-62A775DF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C256-A47A-CB41-2B6A-5664EA20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D764-412D-6574-04E8-0356760B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4E37C-A82C-638D-0832-D28A209D7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78B08-81A6-E0ED-C2EF-72E1002FE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FB73-D5F6-D927-D6C9-FA1AC39A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A6F7-84F4-14CC-7624-993C02E9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750CE-920B-9EE1-1BB8-B4A62A3E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4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57A2-CF78-5AC1-4187-080EE13E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709C0-317F-89C4-3AA3-523B18412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78B96-BE34-035F-637D-3B80AF0F3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80B7B-9648-4A46-A284-D48CE1B104F7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5682-44E6-32BB-A6C3-23ED1ABAE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A07C0-E10F-20F7-14D3-5CE664CF9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1DF74-D080-854C-881F-B2FA01AB3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F125-95DC-BFD7-D361-934BF6EFE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Benchmarking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3BC84-78FD-2682-9CF2-74FE99D53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pyMT</a:t>
            </a:r>
            <a:r>
              <a:rPr lang="en-US" dirty="0"/>
              <a:t>-call vs Signac </a:t>
            </a:r>
          </a:p>
        </p:txBody>
      </p:sp>
    </p:spTree>
    <p:extLst>
      <p:ext uri="{BB962C8B-B14F-4D97-AF65-F5344CB8AC3E}">
        <p14:creationId xmlns:p14="http://schemas.microsoft.com/office/powerpoint/2010/main" val="255556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A984-DF26-C73F-8CFC-BCBDED96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Mike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47DE-BF93-C00B-9A64-D6E3B3324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understand if Signac is detecting the same variants as my code is </a:t>
            </a:r>
          </a:p>
          <a:p>
            <a:r>
              <a:rPr lang="en-US" dirty="0"/>
              <a:t>If the number of variants is similar/the same </a:t>
            </a:r>
          </a:p>
          <a:p>
            <a:r>
              <a:rPr lang="en-US" dirty="0"/>
              <a:t>If Signac filtering gets rid of good variant/calls</a:t>
            </a:r>
          </a:p>
          <a:p>
            <a:r>
              <a:rPr lang="en-US" dirty="0"/>
              <a:t>If Signac filtering retains bad/variant calls</a:t>
            </a:r>
          </a:p>
          <a:p>
            <a:r>
              <a:rPr lang="en-US" dirty="0"/>
              <a:t>If Signac can be outperformed by </a:t>
            </a:r>
            <a:r>
              <a:rPr lang="en-US" dirty="0" err="1"/>
              <a:t>pyMt</a:t>
            </a:r>
            <a:r>
              <a:rPr lang="en-US" dirty="0"/>
              <a:t>-call in lineage tracing</a:t>
            </a:r>
          </a:p>
        </p:txBody>
      </p:sp>
    </p:spTree>
    <p:extLst>
      <p:ext uri="{BB962C8B-B14F-4D97-AF65-F5344CB8AC3E}">
        <p14:creationId xmlns:p14="http://schemas.microsoft.com/office/powerpoint/2010/main" val="208161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81E4-D12F-5DA4-7724-DD6CE97C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filtering on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C489-8D32-C0F6-B3DF-8160D7154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Signac – 4708 variants on </a:t>
            </a:r>
            <a:r>
              <a:rPr lang="en-US" b="1" dirty="0"/>
              <a:t>8365 </a:t>
            </a:r>
            <a:r>
              <a:rPr lang="en-US" dirty="0"/>
              <a:t>cells (run time unclear because </a:t>
            </a:r>
            <a:r>
              <a:rPr lang="en-US" dirty="0" err="1"/>
              <a:t>signac</a:t>
            </a:r>
            <a:r>
              <a:rPr lang="en-US" dirty="0"/>
              <a:t> does processing in multiple steps, estimate around 5 minutes)</a:t>
            </a:r>
          </a:p>
          <a:p>
            <a:r>
              <a:rPr lang="en-US" dirty="0" err="1"/>
              <a:t>pyMTcall</a:t>
            </a:r>
            <a:r>
              <a:rPr lang="en-US" dirty="0"/>
              <a:t> – </a:t>
            </a:r>
            <a:r>
              <a:rPr lang="en-GB" b="1" dirty="0"/>
              <a:t>4710</a:t>
            </a:r>
            <a:r>
              <a:rPr lang="en-GB" dirty="0"/>
              <a:t> variants in </a:t>
            </a:r>
            <a:r>
              <a:rPr lang="en-GB" b="1" dirty="0"/>
              <a:t>8365 </a:t>
            </a:r>
            <a:r>
              <a:rPr lang="en-GB" dirty="0"/>
              <a:t>cells (10:29 run time)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So, where are my extra </a:t>
            </a:r>
            <a:r>
              <a:rPr lang="en-GB" b="1" dirty="0"/>
              <a:t>two</a:t>
            </a:r>
            <a:r>
              <a:rPr lang="en-GB" dirty="0"/>
              <a:t> variants coming from, and are we detecting the same variants?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5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BBEE-5B24-2692-83AA-D07C245F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 matching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DADC9-9061-4634-EF3A-6AE017A16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4708</a:t>
            </a:r>
            <a:r>
              <a:rPr lang="en-US" dirty="0"/>
              <a:t> variants match leaving </a:t>
            </a:r>
            <a:r>
              <a:rPr lang="en-US" b="1" dirty="0"/>
              <a:t>two</a:t>
            </a:r>
            <a:r>
              <a:rPr lang="en-US" dirty="0"/>
              <a:t> variants different </a:t>
            </a:r>
          </a:p>
          <a:p>
            <a:r>
              <a:rPr lang="en-US" dirty="0"/>
              <a:t>3107N&gt;C and 3107N&gt;T which are sequencing errors exist in my variants but not theirs. This will need to be fixed.  </a:t>
            </a:r>
          </a:p>
          <a:p>
            <a:r>
              <a:rPr lang="en-US" dirty="0"/>
              <a:t>Sequencing artifacts believed to be in the </a:t>
            </a:r>
            <a:r>
              <a:rPr lang="en-US" dirty="0" err="1"/>
              <a:t>mito</a:t>
            </a:r>
            <a:r>
              <a:rPr lang="en-US" dirty="0"/>
              <a:t> genome by Lareau et al are: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301:302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309:311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316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3107:3109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16182:16183</a:t>
            </a:r>
          </a:p>
        </p:txBody>
      </p:sp>
    </p:spTree>
    <p:extLst>
      <p:ext uri="{BB962C8B-B14F-4D97-AF65-F5344CB8AC3E}">
        <p14:creationId xmlns:p14="http://schemas.microsoft.com/office/powerpoint/2010/main" val="31404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06DD-A68E-8A4E-6F29-A254E714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Signac Filtering on Variants </a:t>
            </a:r>
          </a:p>
        </p:txBody>
      </p:sp>
      <p:pic>
        <p:nvPicPr>
          <p:cNvPr id="5" name="Content Placeholder 4" descr="A graph showing a line of dots&#10;&#10;AI-generated content may be incorrect.">
            <a:extLst>
              <a:ext uri="{FF2B5EF4-FFF2-40B4-BE49-F238E27FC236}">
                <a16:creationId xmlns:a16="http://schemas.microsoft.com/office/drawing/2014/main" id="{1966FD42-1DDD-F79B-2C6E-BED3F2D8E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49"/>
          <a:stretch>
            <a:fillRect/>
          </a:stretch>
        </p:blipFill>
        <p:spPr>
          <a:xfrm>
            <a:off x="2155190" y="1690688"/>
            <a:ext cx="7293941" cy="38608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1A86F8-5692-DE14-7B1A-D47FEE6A23C2}"/>
              </a:ext>
            </a:extLst>
          </p:cNvPr>
          <p:cNvSpPr txBox="1">
            <a:spLocks/>
          </p:cNvSpPr>
          <p:nvPr/>
        </p:nvSpPr>
        <p:spPr>
          <a:xfrm>
            <a:off x="406400" y="56921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Variants in </a:t>
            </a:r>
            <a:r>
              <a:rPr lang="en-US">
                <a:solidFill>
                  <a:srgbClr val="FF0000"/>
                </a:solidFill>
              </a:rPr>
              <a:t>red </a:t>
            </a:r>
            <a:r>
              <a:rPr lang="en-US"/>
              <a:t>are considered ”informative” variants because they have a high </a:t>
            </a:r>
            <a:r>
              <a:rPr lang="en-US" b="1"/>
              <a:t>variance </a:t>
            </a:r>
            <a:r>
              <a:rPr lang="en-US"/>
              <a:t>and high </a:t>
            </a:r>
            <a:r>
              <a:rPr lang="en-US" b="1"/>
              <a:t>strand concordance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2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30D3-0A05-96D1-C5E9-D8724AE24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45" y="640080"/>
            <a:ext cx="1078611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 intend to question this variant filtering strategy by asking a few questions: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Are all </a:t>
            </a:r>
            <a:r>
              <a:rPr lang="en-US" dirty="0">
                <a:solidFill>
                  <a:srgbClr val="FF0000"/>
                </a:solidFill>
              </a:rPr>
              <a:t>red </a:t>
            </a:r>
            <a:r>
              <a:rPr lang="en-US" dirty="0"/>
              <a:t>selected variants truly informative?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Are all non-selected variants uninformative?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Do I retain more informative variants/cells?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Do I exclude uninformative variants/cells?</a:t>
            </a:r>
          </a:p>
        </p:txBody>
      </p:sp>
    </p:spTree>
    <p:extLst>
      <p:ext uri="{BB962C8B-B14F-4D97-AF65-F5344CB8AC3E}">
        <p14:creationId xmlns:p14="http://schemas.microsoft.com/office/powerpoint/2010/main" val="168041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7AD3-45FD-3B61-75A8-D59BF72B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Are all </a:t>
            </a:r>
            <a:r>
              <a:rPr lang="en-US" dirty="0">
                <a:solidFill>
                  <a:srgbClr val="FF0000"/>
                </a:solidFill>
              </a:rPr>
              <a:t>red </a:t>
            </a:r>
            <a:r>
              <a:rPr lang="en-US" dirty="0"/>
              <a:t>selected variants truly informative?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6CD7-9E53-FA04-1929-C9DF93E6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filtered based on Signac’s recommendations, taking into account the plot </a:t>
            </a:r>
          </a:p>
          <a:p>
            <a:r>
              <a:rPr lang="en-US" dirty="0"/>
              <a:t>Filters applied : </a:t>
            </a:r>
            <a:r>
              <a:rPr lang="en-US" dirty="0" err="1"/>
              <a:t>n_cells_conf_detected</a:t>
            </a:r>
            <a:r>
              <a:rPr lang="en-US" dirty="0"/>
              <a:t> &gt;= 5, </a:t>
            </a:r>
            <a:r>
              <a:rPr lang="en-US" dirty="0" err="1"/>
              <a:t>strand_correlation</a:t>
            </a:r>
            <a:r>
              <a:rPr lang="en-US" dirty="0"/>
              <a:t> &gt;= 0.65 and </a:t>
            </a:r>
            <a:r>
              <a:rPr lang="en-US" dirty="0" err="1"/>
              <a:t>vmr</a:t>
            </a:r>
            <a:r>
              <a:rPr lang="en-US" dirty="0"/>
              <a:t> &gt; 0.01</a:t>
            </a:r>
          </a:p>
          <a:p>
            <a:r>
              <a:rPr lang="en-US" dirty="0"/>
              <a:t>From a starting set of </a:t>
            </a:r>
            <a:r>
              <a:rPr lang="en-US" b="1" dirty="0"/>
              <a:t>4708</a:t>
            </a:r>
            <a:r>
              <a:rPr lang="en-US" dirty="0"/>
              <a:t> variants, this leaves us with </a:t>
            </a:r>
            <a:r>
              <a:rPr lang="en-US" b="1" dirty="0"/>
              <a:t>167</a:t>
            </a:r>
            <a:r>
              <a:rPr lang="en-US" dirty="0"/>
              <a:t> variants, just </a:t>
            </a:r>
            <a:r>
              <a:rPr lang="en-US" b="1" dirty="0"/>
              <a:t>0.3% </a:t>
            </a:r>
            <a:r>
              <a:rPr lang="en-US" dirty="0"/>
              <a:t>of the initial variant pool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772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288D-845E-C06C-5865-1999083F3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variants are detected in only </a:t>
            </a:r>
            <a:r>
              <a:rPr lang="en-US" b="1" dirty="0"/>
              <a:t>15 (0.01%)</a:t>
            </a:r>
            <a:r>
              <a:rPr lang="en-US" dirty="0"/>
              <a:t> cells on </a:t>
            </a:r>
            <a:r>
              <a:rPr lang="en-US" i="1" dirty="0"/>
              <a:t>average </a:t>
            </a:r>
            <a:r>
              <a:rPr lang="en-US" dirty="0"/>
              <a:t>and just </a:t>
            </a:r>
            <a:r>
              <a:rPr lang="en-US" b="1" dirty="0"/>
              <a:t>7 (0.008%) </a:t>
            </a:r>
            <a:r>
              <a:rPr lang="en-US" dirty="0"/>
              <a:t>cells </a:t>
            </a:r>
            <a:r>
              <a:rPr lang="en-US" i="1" dirty="0"/>
              <a:t>median</a:t>
            </a:r>
          </a:p>
          <a:p>
            <a:r>
              <a:rPr lang="en-US" dirty="0"/>
              <a:t>These variants are unlikely to be informative if they are shared by so few cells</a:t>
            </a:r>
          </a:p>
          <a:p>
            <a:r>
              <a:rPr lang="en-US" dirty="0"/>
              <a:t>Despite Signac claiming this filtering is used to improve the ability to do clonotyping, they leave cells with uncertain variant calls in the data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53BB93-63CA-DDFB-8054-70D063C4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Are all </a:t>
            </a:r>
            <a:r>
              <a:rPr lang="en-US" dirty="0">
                <a:solidFill>
                  <a:srgbClr val="FF0000"/>
                </a:solidFill>
              </a:rPr>
              <a:t>red </a:t>
            </a:r>
            <a:r>
              <a:rPr lang="en-US" dirty="0"/>
              <a:t>selected variants truly informative?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19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E817-9EC9-FC93-695D-754D27C9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of these look informative </a:t>
            </a:r>
          </a:p>
        </p:txBody>
      </p:sp>
      <p:pic>
        <p:nvPicPr>
          <p:cNvPr id="5" name="Content Placeholder 4" descr="A group of numbers and symbols&#10;&#10;AI-generated content may be incorrect.">
            <a:extLst>
              <a:ext uri="{FF2B5EF4-FFF2-40B4-BE49-F238E27FC236}">
                <a16:creationId xmlns:a16="http://schemas.microsoft.com/office/drawing/2014/main" id="{54418854-8563-1F28-0E22-74FF40725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854993"/>
            <a:ext cx="8096250" cy="4201147"/>
          </a:xfrm>
        </p:spPr>
      </p:pic>
    </p:spTree>
    <p:extLst>
      <p:ext uri="{BB962C8B-B14F-4D97-AF65-F5344CB8AC3E}">
        <p14:creationId xmlns:p14="http://schemas.microsoft.com/office/powerpoint/2010/main" val="163173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575-B303-B6AB-9709-BC3DE8DB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Clonotyping </a:t>
            </a:r>
          </a:p>
        </p:txBody>
      </p:sp>
      <p:pic>
        <p:nvPicPr>
          <p:cNvPr id="5" name="Content Placeholder 4" descr="A purple and green background&#10;&#10;AI-generated content may be incorrect.">
            <a:extLst>
              <a:ext uri="{FF2B5EF4-FFF2-40B4-BE49-F238E27FC236}">
                <a16:creationId xmlns:a16="http://schemas.microsoft.com/office/drawing/2014/main" id="{312044AB-0318-868F-94FB-B09931C6D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450" y="1441872"/>
            <a:ext cx="7730300" cy="50510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162FAE-3B90-307B-BCEE-18CE39036B46}"/>
              </a:ext>
            </a:extLst>
          </p:cNvPr>
          <p:cNvSpPr txBox="1"/>
          <p:nvPr/>
        </p:nvSpPr>
        <p:spPr>
          <a:xfrm>
            <a:off x="8877300" y="2451522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 few clones in there that look interesting, clone1 is specific to a mutation, as is clone 4 and clone 8. However, there is quite a lot of noise, so any clonotyping assessed from this directly would likely be spurious at best </a:t>
            </a:r>
          </a:p>
        </p:txBody>
      </p:sp>
    </p:spTree>
    <p:extLst>
      <p:ext uri="{BB962C8B-B14F-4D97-AF65-F5344CB8AC3E}">
        <p14:creationId xmlns:p14="http://schemas.microsoft.com/office/powerpoint/2010/main" val="130870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949C9-77F8-B051-D410-5F955CD11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do not think all selected variants are truly informative</a:t>
            </a:r>
          </a:p>
          <a:p>
            <a:r>
              <a:rPr lang="en-US" dirty="0"/>
              <a:t>There are likely informative variants selected that are specific to certain clusters and cell types, and may represent true clones. But there is significant noise </a:t>
            </a:r>
          </a:p>
          <a:p>
            <a:r>
              <a:rPr lang="en-US" dirty="0"/>
              <a:t>A lot of variants are filtered out, many of the variants that remain are represented in very few cells </a:t>
            </a:r>
          </a:p>
          <a:p>
            <a:r>
              <a:rPr lang="en-US" dirty="0"/>
              <a:t>Variants that do remain will often have calls in poor quality cells (show later on)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11D37-15AD-87E1-E56B-1F67D4CB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Are all </a:t>
            </a:r>
            <a:r>
              <a:rPr lang="en-US" dirty="0">
                <a:solidFill>
                  <a:srgbClr val="FF0000"/>
                </a:solidFill>
              </a:rPr>
              <a:t>red </a:t>
            </a:r>
            <a:r>
              <a:rPr lang="en-US" dirty="0"/>
              <a:t>selected variants truly informative?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11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BAD1-F925-5801-4E59-1DD87450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Do I retain more informative variants/cells?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E57B-1A38-D4F2-5B0A-BBFE3619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Contrary to Signac, </a:t>
            </a:r>
            <a:r>
              <a:rPr lang="en-US" dirty="0" err="1"/>
              <a:t>pyMt</a:t>
            </a:r>
            <a:r>
              <a:rPr lang="en-US" dirty="0"/>
              <a:t>-Call does not filter on a per </a:t>
            </a:r>
            <a:r>
              <a:rPr lang="en-US" b="1" dirty="0"/>
              <a:t>variant </a:t>
            </a:r>
            <a:r>
              <a:rPr lang="en-US" dirty="0"/>
              <a:t>basis, instead it filters on a </a:t>
            </a:r>
            <a:r>
              <a:rPr lang="en-US" b="1" dirty="0"/>
              <a:t>variant/cell </a:t>
            </a:r>
            <a:r>
              <a:rPr lang="en-US" dirty="0"/>
              <a:t>basis </a:t>
            </a:r>
          </a:p>
          <a:p>
            <a:r>
              <a:rPr lang="en-US" dirty="0"/>
              <a:t>Each variant in each cell is treated as an </a:t>
            </a:r>
            <a:r>
              <a:rPr lang="en-US" b="1" dirty="0"/>
              <a:t>independent</a:t>
            </a:r>
            <a:r>
              <a:rPr lang="en-US" dirty="0"/>
              <a:t> observation, any </a:t>
            </a:r>
            <a:r>
              <a:rPr lang="en-US" b="1" dirty="0"/>
              <a:t>variant/cell</a:t>
            </a:r>
            <a:r>
              <a:rPr lang="en-US" dirty="0"/>
              <a:t> calls that do not reach filtering standard are removed </a:t>
            </a:r>
          </a:p>
          <a:p>
            <a:r>
              <a:rPr lang="en-US" dirty="0"/>
              <a:t>I hope this will retain more informative variants and remove more uninformative variants </a:t>
            </a:r>
          </a:p>
        </p:txBody>
      </p:sp>
    </p:spTree>
    <p:extLst>
      <p:ext uri="{BB962C8B-B14F-4D97-AF65-F5344CB8AC3E}">
        <p14:creationId xmlns:p14="http://schemas.microsoft.com/office/powerpoint/2010/main" val="282760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D433-B614-FC15-6608-E896D3AD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use different filters for </a:t>
            </a:r>
            <a:r>
              <a:rPr lang="en-US" dirty="0" err="1"/>
              <a:t>pyMtCall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7577-1FE7-9798-9127-A467BF60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Firstly, we can use a knuckle approach to identify the depth required to accurately detect the VAF of a variant</a:t>
            </a:r>
          </a:p>
          <a:p>
            <a:r>
              <a:rPr lang="en-US" dirty="0"/>
              <a:t>We would expect true variance in VAF to exist at all depth values</a:t>
            </a:r>
          </a:p>
          <a:p>
            <a:r>
              <a:rPr lang="en-US" dirty="0"/>
              <a:t>If an increase in depth causes changes in VAF then it’s likely that insufficient depth is the cause of variance in VAF values </a:t>
            </a:r>
          </a:p>
          <a:p>
            <a:r>
              <a:rPr lang="en-US" dirty="0"/>
              <a:t>We can therefore find a knuckle where increasing depth no longer has an appreciable impact on VAF</a:t>
            </a:r>
          </a:p>
        </p:txBody>
      </p:sp>
    </p:spTree>
    <p:extLst>
      <p:ext uri="{BB962C8B-B14F-4D97-AF65-F5344CB8AC3E}">
        <p14:creationId xmlns:p14="http://schemas.microsoft.com/office/powerpoint/2010/main" val="263482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B3B0-79BC-14C2-7A1E-0FED022D6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knuckle </a:t>
            </a:r>
          </a:p>
        </p:txBody>
      </p:sp>
      <p:pic>
        <p:nvPicPr>
          <p:cNvPr id="5" name="Content Placeholder 4" descr="A graph with blue dots&#10;&#10;AI-generated content may be incorrect.">
            <a:extLst>
              <a:ext uri="{FF2B5EF4-FFF2-40B4-BE49-F238E27FC236}">
                <a16:creationId xmlns:a16="http://schemas.microsoft.com/office/drawing/2014/main" id="{4E7BC6F5-7A6A-2E87-596C-892B817BE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11"/>
          <a:stretch>
            <a:fillRect/>
          </a:stretch>
        </p:blipFill>
        <p:spPr>
          <a:xfrm>
            <a:off x="156535" y="1645371"/>
            <a:ext cx="4940300" cy="3676796"/>
          </a:xfrm>
        </p:spPr>
      </p:pic>
      <p:pic>
        <p:nvPicPr>
          <p:cNvPr id="7" name="Picture 6" descr="A graph with blue dots&#10;&#10;AI-generated content may be incorrect.">
            <a:extLst>
              <a:ext uri="{FF2B5EF4-FFF2-40B4-BE49-F238E27FC236}">
                <a16:creationId xmlns:a16="http://schemas.microsoft.com/office/drawing/2014/main" id="{AB482CE0-920B-D3E9-7179-B637F7086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26"/>
          <a:stretch>
            <a:fillRect/>
          </a:stretch>
        </p:blipFill>
        <p:spPr>
          <a:xfrm>
            <a:off x="6684188" y="1645371"/>
            <a:ext cx="4800676" cy="367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428C-F2F4-CF46-F7C3-BAD119CF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“true” VAF spread</a:t>
            </a:r>
          </a:p>
        </p:txBody>
      </p:sp>
      <p:pic>
        <p:nvPicPr>
          <p:cNvPr id="5" name="Content Placeholder 4" descr="A diagram with blue dots&#10;&#10;AI-generated content may be incorrect.">
            <a:extLst>
              <a:ext uri="{FF2B5EF4-FFF2-40B4-BE49-F238E27FC236}">
                <a16:creationId xmlns:a16="http://schemas.microsoft.com/office/drawing/2014/main" id="{AC186DCD-0923-008D-15B4-07F23C9F3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21"/>
          <a:stretch>
            <a:fillRect/>
          </a:stretch>
        </p:blipFill>
        <p:spPr>
          <a:xfrm>
            <a:off x="3397956" y="2172494"/>
            <a:ext cx="4895144" cy="3695700"/>
          </a:xfrm>
        </p:spPr>
      </p:pic>
    </p:spTree>
    <p:extLst>
      <p:ext uri="{BB962C8B-B14F-4D97-AF65-F5344CB8AC3E}">
        <p14:creationId xmlns:p14="http://schemas.microsoft.com/office/powerpoint/2010/main" val="139043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1ED3-EBAF-EED6-3A0A-3437DF70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pyMT</a:t>
            </a:r>
            <a:r>
              <a:rPr lang="en-US" dirty="0"/>
              <a:t>-Call filtering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564BE-6A57-E4D9-E073-3ECFCE4E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coverage of &gt;=20 </a:t>
            </a:r>
          </a:p>
          <a:p>
            <a:r>
              <a:rPr lang="en-US" dirty="0"/>
              <a:t>Strand concordance of &gt;=0.4 </a:t>
            </a:r>
          </a:p>
          <a:p>
            <a:r>
              <a:rPr lang="en-US" dirty="0"/>
              <a:t>VAF of 0.1 or higher</a:t>
            </a:r>
          </a:p>
          <a:p>
            <a:r>
              <a:rPr lang="en-US" dirty="0"/>
              <a:t>Leaves us with 2363 variants or 57% of the original pool of variants </a:t>
            </a:r>
          </a:p>
        </p:txBody>
      </p:sp>
    </p:spTree>
    <p:extLst>
      <p:ext uri="{BB962C8B-B14F-4D97-AF65-F5344CB8AC3E}">
        <p14:creationId xmlns:p14="http://schemas.microsoft.com/office/powerpoint/2010/main" val="1474293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9339-B8BF-9CDA-134C-C98A5C05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578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Despite more variants with more permissive filters, I think the clonotypes look more informative </a:t>
            </a:r>
          </a:p>
        </p:txBody>
      </p:sp>
      <p:pic>
        <p:nvPicPr>
          <p:cNvPr id="5" name="Content Placeholder 4" descr="A screenshot of a heat map&#10;&#10;AI-generated content may be incorrect.">
            <a:extLst>
              <a:ext uri="{FF2B5EF4-FFF2-40B4-BE49-F238E27FC236}">
                <a16:creationId xmlns:a16="http://schemas.microsoft.com/office/drawing/2014/main" id="{BF26E2E6-947E-6716-95C0-8C11A9DE4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62" r="3577" b="3353"/>
          <a:stretch>
            <a:fillRect/>
          </a:stretch>
        </p:blipFill>
        <p:spPr>
          <a:xfrm>
            <a:off x="3053541" y="1325563"/>
            <a:ext cx="6107084" cy="5393602"/>
          </a:xfrm>
        </p:spPr>
      </p:pic>
    </p:spTree>
    <p:extLst>
      <p:ext uri="{BB962C8B-B14F-4D97-AF65-F5344CB8AC3E}">
        <p14:creationId xmlns:p14="http://schemas.microsoft.com/office/powerpoint/2010/main" val="79645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3697-E975-2A90-71A6-67D22816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Clonotyping </a:t>
            </a:r>
            <a:r>
              <a:rPr lang="en-US" dirty="0" err="1"/>
              <a:t>Cont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36343CD-4846-C079-6E46-B4E662274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036" y="1936850"/>
            <a:ext cx="7499927" cy="4181209"/>
          </a:xfrm>
        </p:spPr>
      </p:pic>
    </p:spTree>
    <p:extLst>
      <p:ext uri="{BB962C8B-B14F-4D97-AF65-F5344CB8AC3E}">
        <p14:creationId xmlns:p14="http://schemas.microsoft.com/office/powerpoint/2010/main" val="4038752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6CEF-F052-A5A7-17BD-430786B6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retain more cells and more variants </a:t>
            </a:r>
          </a:p>
          <a:p>
            <a:r>
              <a:rPr lang="en-US" dirty="0"/>
              <a:t>The variants that I do retain exist in far more cells spread across more cell types</a:t>
            </a:r>
          </a:p>
          <a:p>
            <a:r>
              <a:rPr lang="en-US" dirty="0"/>
              <a:t>When clonotyping is executed on these variants/cells, even without specific clonotyping filters, the clones look much more informative </a:t>
            </a:r>
          </a:p>
          <a:p>
            <a:r>
              <a:rPr lang="en-US" dirty="0"/>
              <a:t>Further analysis of the clones discovered by each method is required to determine whether these clones are truly </a:t>
            </a:r>
            <a:r>
              <a:rPr lang="en-US"/>
              <a:t>Biologically representative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1E195C-6F1F-AC42-12DC-22EC67BA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Do I retain more informative variants/cells?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57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AE4A-B35F-6EE0-091D-F1178E63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looks worse with Seurat - Aside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9148B-E53E-18F6-29B9-03B16A3E6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89" y="2155321"/>
            <a:ext cx="5557064" cy="3154616"/>
          </a:xfrm>
        </p:spPr>
      </p:pic>
      <p:pic>
        <p:nvPicPr>
          <p:cNvPr id="7" name="Picture 6" descr="A graph with different colored spots&#10;&#10;AI-generated content may be incorrect.">
            <a:extLst>
              <a:ext uri="{FF2B5EF4-FFF2-40B4-BE49-F238E27FC236}">
                <a16:creationId xmlns:a16="http://schemas.microsoft.com/office/drawing/2014/main" id="{EE9571AA-A9FC-431F-0B07-8AAE872C8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99" t="16721" r="15336" b="4192"/>
          <a:stretch>
            <a:fillRect/>
          </a:stretch>
        </p:blipFill>
        <p:spPr>
          <a:xfrm>
            <a:off x="5807242" y="1789282"/>
            <a:ext cx="5867400" cy="42838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ED6C49-FE24-6DF2-BFE9-7BC607DE2EDD}"/>
              </a:ext>
            </a:extLst>
          </p:cNvPr>
          <p:cNvSpPr txBox="1"/>
          <p:nvPr/>
        </p:nvSpPr>
        <p:spPr>
          <a:xfrm>
            <a:off x="3276600" y="5848521"/>
            <a:ext cx="5963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UMAP produced by </a:t>
            </a:r>
            <a:r>
              <a:rPr lang="en-US" b="1" dirty="0"/>
              <a:t>Seura</a:t>
            </a:r>
            <a:r>
              <a:rPr lang="en-US" dirty="0"/>
              <a:t>t, Right: UMAP produced by </a:t>
            </a:r>
            <a:r>
              <a:rPr lang="en-US" b="1" dirty="0"/>
              <a:t>snapATAC2</a:t>
            </a:r>
          </a:p>
        </p:txBody>
      </p:sp>
    </p:spTree>
    <p:extLst>
      <p:ext uri="{BB962C8B-B14F-4D97-AF65-F5344CB8AC3E}">
        <p14:creationId xmlns:p14="http://schemas.microsoft.com/office/powerpoint/2010/main" val="400821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11378</TotalTime>
  <Words>832</Words>
  <Application>Microsoft Macintosh PowerPoint</Application>
  <PresentationFormat>Widescreen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Benchmarking </vt:lpstr>
      <vt:lpstr>PBMC Mike Data used</vt:lpstr>
      <vt:lpstr>No filtering on cells</vt:lpstr>
      <vt:lpstr>Variant matching </vt:lpstr>
      <vt:lpstr>Signac Filtering on Variants </vt:lpstr>
      <vt:lpstr>PowerPoint Presentation</vt:lpstr>
      <vt:lpstr>1. Are all red selected variants truly informative? </vt:lpstr>
      <vt:lpstr>1. Are all red selected variants truly informative? </vt:lpstr>
      <vt:lpstr>Few of these look informative </vt:lpstr>
      <vt:lpstr>Clonotyping </vt:lpstr>
      <vt:lpstr>1. Are all red selected variants truly informative? </vt:lpstr>
      <vt:lpstr>3. Do I retain more informative variants/cells? </vt:lpstr>
      <vt:lpstr>We can use different filters for pyMtCall</vt:lpstr>
      <vt:lpstr>Examples of knuckle </vt:lpstr>
      <vt:lpstr>Example of “true” VAF spread</vt:lpstr>
      <vt:lpstr>pyMT-Call filtering </vt:lpstr>
      <vt:lpstr>Despite more variants with more permissive filters, I think the clonotypes look more informative </vt:lpstr>
      <vt:lpstr>Clonotyping Cont</vt:lpstr>
      <vt:lpstr>3. Do I retain more informative variants/cells? </vt:lpstr>
      <vt:lpstr>Clustering looks worse with Seurat - Aside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Cortes</dc:creator>
  <cp:lastModifiedBy>Lucas Cortes</cp:lastModifiedBy>
  <cp:revision>2</cp:revision>
  <dcterms:created xsi:type="dcterms:W3CDTF">2025-10-16T13:25:47Z</dcterms:created>
  <dcterms:modified xsi:type="dcterms:W3CDTF">2026-03-04T16:49:57Z</dcterms:modified>
</cp:coreProperties>
</file>