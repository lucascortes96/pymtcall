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74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781B7E-620B-D24D-8415-6081B8847E09}" v="4" dt="2025-09-15T15:18:27.3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51"/>
    <p:restoredTop sz="93695"/>
  </p:normalViewPr>
  <p:slideViewPr>
    <p:cSldViewPr snapToGrid="0">
      <p:cViewPr>
        <p:scale>
          <a:sx n="82" d="100"/>
          <a:sy n="82" d="100"/>
        </p:scale>
        <p:origin x="1640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B731F9-AC91-411B-8F47-C91679CC27B3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C64AD88-005A-407C-90BA-DBADA051FFB6}">
      <dgm:prSet/>
      <dgm:spPr/>
      <dgm:t>
        <a:bodyPr/>
        <a:lstStyle/>
        <a:p>
          <a:r>
            <a:rPr lang="en-US"/>
            <a:t>Signac is the variant filtering method written by the authors of mgatk to integrate variants into Seurat objects (similar to anndata objects) in R</a:t>
          </a:r>
        </a:p>
      </dgm:t>
    </dgm:pt>
    <dgm:pt modelId="{67B8D596-C437-46CE-974E-B0654F2239DD}" type="parTrans" cxnId="{ED02AB1A-1C64-4188-93EA-F622DA91AA66}">
      <dgm:prSet/>
      <dgm:spPr/>
      <dgm:t>
        <a:bodyPr/>
        <a:lstStyle/>
        <a:p>
          <a:endParaRPr lang="en-US"/>
        </a:p>
      </dgm:t>
    </dgm:pt>
    <dgm:pt modelId="{767C3FF5-5126-4927-A65C-D3A7973E61F9}" type="sibTrans" cxnId="{ED02AB1A-1C64-4188-93EA-F622DA91AA66}">
      <dgm:prSet/>
      <dgm:spPr/>
      <dgm:t>
        <a:bodyPr/>
        <a:lstStyle/>
        <a:p>
          <a:endParaRPr lang="en-US"/>
        </a:p>
      </dgm:t>
    </dgm:pt>
    <dgm:pt modelId="{5786C4F3-AAA9-48D1-8F34-ADBD57173847}">
      <dgm:prSet/>
      <dgm:spPr/>
      <dgm:t>
        <a:bodyPr/>
        <a:lstStyle/>
        <a:p>
          <a:r>
            <a:rPr lang="en-US"/>
            <a:t>Alleles are called as variants if there are at least two calls at that position with the allele on both strands </a:t>
          </a:r>
        </a:p>
      </dgm:t>
    </dgm:pt>
    <dgm:pt modelId="{3EF6B5E5-4592-456A-9055-971898056C2B}" type="parTrans" cxnId="{62A3DAB2-0D20-4687-92D9-2EC01FC5A94E}">
      <dgm:prSet/>
      <dgm:spPr/>
      <dgm:t>
        <a:bodyPr/>
        <a:lstStyle/>
        <a:p>
          <a:endParaRPr lang="en-US"/>
        </a:p>
      </dgm:t>
    </dgm:pt>
    <dgm:pt modelId="{BCFB7E83-1B17-4271-BAB5-9107E64D040B}" type="sibTrans" cxnId="{62A3DAB2-0D20-4687-92D9-2EC01FC5A94E}">
      <dgm:prSet/>
      <dgm:spPr/>
      <dgm:t>
        <a:bodyPr/>
        <a:lstStyle/>
        <a:p>
          <a:endParaRPr lang="en-US"/>
        </a:p>
      </dgm:t>
    </dgm:pt>
    <dgm:pt modelId="{1AC16FE9-3906-4146-A998-6A4BA211578D}">
      <dgm:prSet/>
      <dgm:spPr/>
      <dgm:t>
        <a:bodyPr/>
        <a:lstStyle/>
        <a:p>
          <a:r>
            <a:rPr lang="en-US"/>
            <a:t>Strand concordance of counts is measured with pearson correlation, and variants with low concordances are cut</a:t>
          </a:r>
        </a:p>
      </dgm:t>
    </dgm:pt>
    <dgm:pt modelId="{5C0B0069-940F-4D09-8CE6-B5DB9BB1AFFC}" type="parTrans" cxnId="{F8665009-583B-4E42-AEAB-0F68D0BD933B}">
      <dgm:prSet/>
      <dgm:spPr/>
      <dgm:t>
        <a:bodyPr/>
        <a:lstStyle/>
        <a:p>
          <a:endParaRPr lang="en-US"/>
        </a:p>
      </dgm:t>
    </dgm:pt>
    <dgm:pt modelId="{EA167ACA-F706-4F83-A28B-282AFA6F81E9}" type="sibTrans" cxnId="{F8665009-583B-4E42-AEAB-0F68D0BD933B}">
      <dgm:prSet/>
      <dgm:spPr/>
      <dgm:t>
        <a:bodyPr/>
        <a:lstStyle/>
        <a:p>
          <a:endParaRPr lang="en-US"/>
        </a:p>
      </dgm:t>
    </dgm:pt>
    <dgm:pt modelId="{FF72EB2F-C631-4C64-B4E4-CBA13C1DF18E}">
      <dgm:prSet/>
      <dgm:spPr/>
      <dgm:t>
        <a:bodyPr/>
        <a:lstStyle/>
        <a:p>
          <a:r>
            <a:rPr lang="en-US"/>
            <a:t>Finally variance mean ratio (VMR) is calculated and variants with very low VMR are also cut (indicative of sequencing bias etc)</a:t>
          </a:r>
        </a:p>
      </dgm:t>
    </dgm:pt>
    <dgm:pt modelId="{19CE8E02-E129-4360-8280-AFCE2B04FC08}" type="parTrans" cxnId="{8B942713-A6A8-475C-AC94-86A4CDF6CD3B}">
      <dgm:prSet/>
      <dgm:spPr/>
      <dgm:t>
        <a:bodyPr/>
        <a:lstStyle/>
        <a:p>
          <a:endParaRPr lang="en-US"/>
        </a:p>
      </dgm:t>
    </dgm:pt>
    <dgm:pt modelId="{AFD7A72E-5E7C-431D-9E3C-93094D57DD82}" type="sibTrans" cxnId="{8B942713-A6A8-475C-AC94-86A4CDF6CD3B}">
      <dgm:prSet/>
      <dgm:spPr/>
      <dgm:t>
        <a:bodyPr/>
        <a:lstStyle/>
        <a:p>
          <a:endParaRPr lang="en-US"/>
        </a:p>
      </dgm:t>
    </dgm:pt>
    <dgm:pt modelId="{718A9736-2579-ED48-87C6-1531F065653E}" type="pres">
      <dgm:prSet presAssocID="{64B731F9-AC91-411B-8F47-C91679CC27B3}" presName="vert0" presStyleCnt="0">
        <dgm:presLayoutVars>
          <dgm:dir/>
          <dgm:animOne val="branch"/>
          <dgm:animLvl val="lvl"/>
        </dgm:presLayoutVars>
      </dgm:prSet>
      <dgm:spPr/>
    </dgm:pt>
    <dgm:pt modelId="{EEF52E25-C930-1240-81EE-5653BA79AF4D}" type="pres">
      <dgm:prSet presAssocID="{8C64AD88-005A-407C-90BA-DBADA051FFB6}" presName="thickLine" presStyleLbl="alignNode1" presStyleIdx="0" presStyleCnt="4"/>
      <dgm:spPr/>
    </dgm:pt>
    <dgm:pt modelId="{F97C03F5-AC08-A541-BCDE-F71F65142D21}" type="pres">
      <dgm:prSet presAssocID="{8C64AD88-005A-407C-90BA-DBADA051FFB6}" presName="horz1" presStyleCnt="0"/>
      <dgm:spPr/>
    </dgm:pt>
    <dgm:pt modelId="{9C1968FA-06CA-E947-B8DF-22FF8FFAE7EB}" type="pres">
      <dgm:prSet presAssocID="{8C64AD88-005A-407C-90BA-DBADA051FFB6}" presName="tx1" presStyleLbl="revTx" presStyleIdx="0" presStyleCnt="4"/>
      <dgm:spPr/>
    </dgm:pt>
    <dgm:pt modelId="{3C81F539-48AB-414E-816A-01B225910751}" type="pres">
      <dgm:prSet presAssocID="{8C64AD88-005A-407C-90BA-DBADA051FFB6}" presName="vert1" presStyleCnt="0"/>
      <dgm:spPr/>
    </dgm:pt>
    <dgm:pt modelId="{F149DC8C-068C-0844-8DE4-2E39B1188514}" type="pres">
      <dgm:prSet presAssocID="{5786C4F3-AAA9-48D1-8F34-ADBD57173847}" presName="thickLine" presStyleLbl="alignNode1" presStyleIdx="1" presStyleCnt="4"/>
      <dgm:spPr/>
    </dgm:pt>
    <dgm:pt modelId="{7022D947-6227-F547-B801-C4009143BF70}" type="pres">
      <dgm:prSet presAssocID="{5786C4F3-AAA9-48D1-8F34-ADBD57173847}" presName="horz1" presStyleCnt="0"/>
      <dgm:spPr/>
    </dgm:pt>
    <dgm:pt modelId="{1EFB77B6-EF72-7540-A977-A7CBCE60E497}" type="pres">
      <dgm:prSet presAssocID="{5786C4F3-AAA9-48D1-8F34-ADBD57173847}" presName="tx1" presStyleLbl="revTx" presStyleIdx="1" presStyleCnt="4"/>
      <dgm:spPr/>
    </dgm:pt>
    <dgm:pt modelId="{0E442A2C-55AF-ED42-ACE7-7AAC5B1EDF7A}" type="pres">
      <dgm:prSet presAssocID="{5786C4F3-AAA9-48D1-8F34-ADBD57173847}" presName="vert1" presStyleCnt="0"/>
      <dgm:spPr/>
    </dgm:pt>
    <dgm:pt modelId="{4E138155-8E1C-014D-9500-1C4065D7633F}" type="pres">
      <dgm:prSet presAssocID="{1AC16FE9-3906-4146-A998-6A4BA211578D}" presName="thickLine" presStyleLbl="alignNode1" presStyleIdx="2" presStyleCnt="4"/>
      <dgm:spPr/>
    </dgm:pt>
    <dgm:pt modelId="{3F37CCCE-95FF-584D-A809-42E4BBBE80C9}" type="pres">
      <dgm:prSet presAssocID="{1AC16FE9-3906-4146-A998-6A4BA211578D}" presName="horz1" presStyleCnt="0"/>
      <dgm:spPr/>
    </dgm:pt>
    <dgm:pt modelId="{A930239C-3B26-774A-98F9-445F6DEAE00F}" type="pres">
      <dgm:prSet presAssocID="{1AC16FE9-3906-4146-A998-6A4BA211578D}" presName="tx1" presStyleLbl="revTx" presStyleIdx="2" presStyleCnt="4"/>
      <dgm:spPr/>
    </dgm:pt>
    <dgm:pt modelId="{DA267FCF-13D5-6246-9A4E-E35C7314A0C3}" type="pres">
      <dgm:prSet presAssocID="{1AC16FE9-3906-4146-A998-6A4BA211578D}" presName="vert1" presStyleCnt="0"/>
      <dgm:spPr/>
    </dgm:pt>
    <dgm:pt modelId="{857A437E-B351-2743-A875-CC676BCFC19F}" type="pres">
      <dgm:prSet presAssocID="{FF72EB2F-C631-4C64-B4E4-CBA13C1DF18E}" presName="thickLine" presStyleLbl="alignNode1" presStyleIdx="3" presStyleCnt="4"/>
      <dgm:spPr/>
    </dgm:pt>
    <dgm:pt modelId="{703C03AF-3C9C-2143-8CAE-686DC7240DB4}" type="pres">
      <dgm:prSet presAssocID="{FF72EB2F-C631-4C64-B4E4-CBA13C1DF18E}" presName="horz1" presStyleCnt="0"/>
      <dgm:spPr/>
    </dgm:pt>
    <dgm:pt modelId="{0F388A8A-4D1C-8D43-A6D1-FEC1F626CA7D}" type="pres">
      <dgm:prSet presAssocID="{FF72EB2F-C631-4C64-B4E4-CBA13C1DF18E}" presName="tx1" presStyleLbl="revTx" presStyleIdx="3" presStyleCnt="4"/>
      <dgm:spPr/>
    </dgm:pt>
    <dgm:pt modelId="{52A70961-1961-C849-AB0D-5F6B96D8F5EA}" type="pres">
      <dgm:prSet presAssocID="{FF72EB2F-C631-4C64-B4E4-CBA13C1DF18E}" presName="vert1" presStyleCnt="0"/>
      <dgm:spPr/>
    </dgm:pt>
  </dgm:ptLst>
  <dgm:cxnLst>
    <dgm:cxn modelId="{F8665009-583B-4E42-AEAB-0F68D0BD933B}" srcId="{64B731F9-AC91-411B-8F47-C91679CC27B3}" destId="{1AC16FE9-3906-4146-A998-6A4BA211578D}" srcOrd="2" destOrd="0" parTransId="{5C0B0069-940F-4D09-8CE6-B5DB9BB1AFFC}" sibTransId="{EA167ACA-F706-4F83-A28B-282AFA6F81E9}"/>
    <dgm:cxn modelId="{74F3460D-D7C7-494E-9AC5-E742EE21B6C6}" type="presOf" srcId="{FF72EB2F-C631-4C64-B4E4-CBA13C1DF18E}" destId="{0F388A8A-4D1C-8D43-A6D1-FEC1F626CA7D}" srcOrd="0" destOrd="0" presId="urn:microsoft.com/office/officeart/2008/layout/LinedList"/>
    <dgm:cxn modelId="{8B942713-A6A8-475C-AC94-86A4CDF6CD3B}" srcId="{64B731F9-AC91-411B-8F47-C91679CC27B3}" destId="{FF72EB2F-C631-4C64-B4E4-CBA13C1DF18E}" srcOrd="3" destOrd="0" parTransId="{19CE8E02-E129-4360-8280-AFCE2B04FC08}" sibTransId="{AFD7A72E-5E7C-431D-9E3C-93094D57DD82}"/>
    <dgm:cxn modelId="{ED02AB1A-1C64-4188-93EA-F622DA91AA66}" srcId="{64B731F9-AC91-411B-8F47-C91679CC27B3}" destId="{8C64AD88-005A-407C-90BA-DBADA051FFB6}" srcOrd="0" destOrd="0" parTransId="{67B8D596-C437-46CE-974E-B0654F2239DD}" sibTransId="{767C3FF5-5126-4927-A65C-D3A7973E61F9}"/>
    <dgm:cxn modelId="{C140B91E-FECF-5D41-9BEC-E886DB49A016}" type="presOf" srcId="{5786C4F3-AAA9-48D1-8F34-ADBD57173847}" destId="{1EFB77B6-EF72-7540-A977-A7CBCE60E497}" srcOrd="0" destOrd="0" presId="urn:microsoft.com/office/officeart/2008/layout/LinedList"/>
    <dgm:cxn modelId="{F1DB585A-7D36-964D-BBBB-432CC9B6FFD8}" type="presOf" srcId="{64B731F9-AC91-411B-8F47-C91679CC27B3}" destId="{718A9736-2579-ED48-87C6-1531F065653E}" srcOrd="0" destOrd="0" presId="urn:microsoft.com/office/officeart/2008/layout/LinedList"/>
    <dgm:cxn modelId="{54BFAD61-28C6-B148-ABF2-34EDB20B532C}" type="presOf" srcId="{8C64AD88-005A-407C-90BA-DBADA051FFB6}" destId="{9C1968FA-06CA-E947-B8DF-22FF8FFAE7EB}" srcOrd="0" destOrd="0" presId="urn:microsoft.com/office/officeart/2008/layout/LinedList"/>
    <dgm:cxn modelId="{62A3DAB2-0D20-4687-92D9-2EC01FC5A94E}" srcId="{64B731F9-AC91-411B-8F47-C91679CC27B3}" destId="{5786C4F3-AAA9-48D1-8F34-ADBD57173847}" srcOrd="1" destOrd="0" parTransId="{3EF6B5E5-4592-456A-9055-971898056C2B}" sibTransId="{BCFB7E83-1B17-4271-BAB5-9107E64D040B}"/>
    <dgm:cxn modelId="{B2A5DBFF-3B9B-B44A-896E-8FD1A1D53E5F}" type="presOf" srcId="{1AC16FE9-3906-4146-A998-6A4BA211578D}" destId="{A930239C-3B26-774A-98F9-445F6DEAE00F}" srcOrd="0" destOrd="0" presId="urn:microsoft.com/office/officeart/2008/layout/LinedList"/>
    <dgm:cxn modelId="{46B563C8-4ECA-E24D-BE12-A4590000BA27}" type="presParOf" srcId="{718A9736-2579-ED48-87C6-1531F065653E}" destId="{EEF52E25-C930-1240-81EE-5653BA79AF4D}" srcOrd="0" destOrd="0" presId="urn:microsoft.com/office/officeart/2008/layout/LinedList"/>
    <dgm:cxn modelId="{67A54F13-A238-7A4A-8111-E0754FD97360}" type="presParOf" srcId="{718A9736-2579-ED48-87C6-1531F065653E}" destId="{F97C03F5-AC08-A541-BCDE-F71F65142D21}" srcOrd="1" destOrd="0" presId="urn:microsoft.com/office/officeart/2008/layout/LinedList"/>
    <dgm:cxn modelId="{2BDB27EF-458B-C048-BD4E-7AD30F4C51D0}" type="presParOf" srcId="{F97C03F5-AC08-A541-BCDE-F71F65142D21}" destId="{9C1968FA-06CA-E947-B8DF-22FF8FFAE7EB}" srcOrd="0" destOrd="0" presId="urn:microsoft.com/office/officeart/2008/layout/LinedList"/>
    <dgm:cxn modelId="{CF65F621-29A7-1C42-BB95-4B46B62227B7}" type="presParOf" srcId="{F97C03F5-AC08-A541-BCDE-F71F65142D21}" destId="{3C81F539-48AB-414E-816A-01B225910751}" srcOrd="1" destOrd="0" presId="urn:microsoft.com/office/officeart/2008/layout/LinedList"/>
    <dgm:cxn modelId="{62F9FC40-6BE1-F346-B458-A4D320028583}" type="presParOf" srcId="{718A9736-2579-ED48-87C6-1531F065653E}" destId="{F149DC8C-068C-0844-8DE4-2E39B1188514}" srcOrd="2" destOrd="0" presId="urn:microsoft.com/office/officeart/2008/layout/LinedList"/>
    <dgm:cxn modelId="{5ACB4EAF-97A3-474F-A67B-0D75C87D82C7}" type="presParOf" srcId="{718A9736-2579-ED48-87C6-1531F065653E}" destId="{7022D947-6227-F547-B801-C4009143BF70}" srcOrd="3" destOrd="0" presId="urn:microsoft.com/office/officeart/2008/layout/LinedList"/>
    <dgm:cxn modelId="{CA083851-73E8-F940-9536-6EECC6DF1943}" type="presParOf" srcId="{7022D947-6227-F547-B801-C4009143BF70}" destId="{1EFB77B6-EF72-7540-A977-A7CBCE60E497}" srcOrd="0" destOrd="0" presId="urn:microsoft.com/office/officeart/2008/layout/LinedList"/>
    <dgm:cxn modelId="{15993C59-DD4B-384D-8052-12A0509B3875}" type="presParOf" srcId="{7022D947-6227-F547-B801-C4009143BF70}" destId="{0E442A2C-55AF-ED42-ACE7-7AAC5B1EDF7A}" srcOrd="1" destOrd="0" presId="urn:microsoft.com/office/officeart/2008/layout/LinedList"/>
    <dgm:cxn modelId="{127C3935-4B7C-5D41-B568-1C357E9EC92A}" type="presParOf" srcId="{718A9736-2579-ED48-87C6-1531F065653E}" destId="{4E138155-8E1C-014D-9500-1C4065D7633F}" srcOrd="4" destOrd="0" presId="urn:microsoft.com/office/officeart/2008/layout/LinedList"/>
    <dgm:cxn modelId="{A4AC9D7E-AE01-6444-BEE3-FE678D3A1176}" type="presParOf" srcId="{718A9736-2579-ED48-87C6-1531F065653E}" destId="{3F37CCCE-95FF-584D-A809-42E4BBBE80C9}" srcOrd="5" destOrd="0" presId="urn:microsoft.com/office/officeart/2008/layout/LinedList"/>
    <dgm:cxn modelId="{2A9C77E3-1A3B-8D4D-AB7F-F4857ECC2663}" type="presParOf" srcId="{3F37CCCE-95FF-584D-A809-42E4BBBE80C9}" destId="{A930239C-3B26-774A-98F9-445F6DEAE00F}" srcOrd="0" destOrd="0" presId="urn:microsoft.com/office/officeart/2008/layout/LinedList"/>
    <dgm:cxn modelId="{31641720-DDB6-4C4B-90E6-A00044603D62}" type="presParOf" srcId="{3F37CCCE-95FF-584D-A809-42E4BBBE80C9}" destId="{DA267FCF-13D5-6246-9A4E-E35C7314A0C3}" srcOrd="1" destOrd="0" presId="urn:microsoft.com/office/officeart/2008/layout/LinedList"/>
    <dgm:cxn modelId="{494BC919-EF3A-214D-B22D-989315BA9E3C}" type="presParOf" srcId="{718A9736-2579-ED48-87C6-1531F065653E}" destId="{857A437E-B351-2743-A875-CC676BCFC19F}" srcOrd="6" destOrd="0" presId="urn:microsoft.com/office/officeart/2008/layout/LinedList"/>
    <dgm:cxn modelId="{D53B4817-710B-5E40-A7F5-D2B01EB68E42}" type="presParOf" srcId="{718A9736-2579-ED48-87C6-1531F065653E}" destId="{703C03AF-3C9C-2143-8CAE-686DC7240DB4}" srcOrd="7" destOrd="0" presId="urn:microsoft.com/office/officeart/2008/layout/LinedList"/>
    <dgm:cxn modelId="{5F03BF7A-579C-2742-A402-5E5DB3CEB296}" type="presParOf" srcId="{703C03AF-3C9C-2143-8CAE-686DC7240DB4}" destId="{0F388A8A-4D1C-8D43-A6D1-FEC1F626CA7D}" srcOrd="0" destOrd="0" presId="urn:microsoft.com/office/officeart/2008/layout/LinedList"/>
    <dgm:cxn modelId="{7911ABF0-7C5E-F049-B793-04D38E36B1D0}" type="presParOf" srcId="{703C03AF-3C9C-2143-8CAE-686DC7240DB4}" destId="{52A70961-1961-C849-AB0D-5F6B96D8F5E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5AC3AA-1A23-4914-AE27-470704CBF61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31C05C6-17DE-4BFE-8E28-202808ACEDAE}">
      <dgm:prSet/>
      <dgm:spPr/>
      <dgm:t>
        <a:bodyPr/>
        <a:lstStyle/>
        <a:p>
          <a:r>
            <a:rPr lang="en-US"/>
            <a:t>Raw sequencing reads are scanned for barcodes and then aligned to the genome (b)</a:t>
          </a:r>
        </a:p>
      </dgm:t>
    </dgm:pt>
    <dgm:pt modelId="{187D1F11-0FC8-4080-9481-3529B8CCA8EB}" type="parTrans" cxnId="{F22C47F6-BDCD-4819-BB9E-01550085844C}">
      <dgm:prSet/>
      <dgm:spPr/>
      <dgm:t>
        <a:bodyPr/>
        <a:lstStyle/>
        <a:p>
          <a:endParaRPr lang="en-US"/>
        </a:p>
      </dgm:t>
    </dgm:pt>
    <dgm:pt modelId="{37D51C3E-1D11-4A6C-82F2-F467D6A6FB5D}" type="sibTrans" cxnId="{F22C47F6-BDCD-4819-BB9E-01550085844C}">
      <dgm:prSet/>
      <dgm:spPr/>
      <dgm:t>
        <a:bodyPr/>
        <a:lstStyle/>
        <a:p>
          <a:endParaRPr lang="en-US"/>
        </a:p>
      </dgm:t>
    </dgm:pt>
    <dgm:pt modelId="{9932106E-589B-4B57-9772-34EEC97D0073}">
      <dgm:prSet/>
      <dgm:spPr/>
      <dgm:t>
        <a:bodyPr/>
        <a:lstStyle/>
        <a:p>
          <a:r>
            <a:rPr lang="en-US"/>
            <a:t>Peak regions and counts are returned (c)</a:t>
          </a:r>
        </a:p>
      </dgm:t>
    </dgm:pt>
    <dgm:pt modelId="{108CE262-0FA6-4BDC-8B10-A6FC7BD8ECCB}" type="parTrans" cxnId="{7842E896-018E-4CDC-A5AA-3C33735C6961}">
      <dgm:prSet/>
      <dgm:spPr/>
      <dgm:t>
        <a:bodyPr/>
        <a:lstStyle/>
        <a:p>
          <a:endParaRPr lang="en-US"/>
        </a:p>
      </dgm:t>
    </dgm:pt>
    <dgm:pt modelId="{684936BF-1F3A-4226-A28D-87ED0ABFF038}" type="sibTrans" cxnId="{7842E896-018E-4CDC-A5AA-3C33735C6961}">
      <dgm:prSet/>
      <dgm:spPr/>
      <dgm:t>
        <a:bodyPr/>
        <a:lstStyle/>
        <a:p>
          <a:endParaRPr lang="en-US"/>
        </a:p>
      </dgm:t>
    </dgm:pt>
    <dgm:pt modelId="{D9819442-0D9E-4C71-82D1-E5C2948EF70A}">
      <dgm:prSet/>
      <dgm:spPr/>
      <dgm:t>
        <a:bodyPr/>
        <a:lstStyle/>
        <a:p>
          <a:r>
            <a:rPr lang="en-US"/>
            <a:t>A peak matrix can be constructed from fragments and counts in each cell (c) (think back to anndata)</a:t>
          </a:r>
        </a:p>
      </dgm:t>
    </dgm:pt>
    <dgm:pt modelId="{009AF45B-C84C-4859-B628-BD8D2584D455}" type="parTrans" cxnId="{2D6E0CB7-03AA-4C90-9727-1A8C87AFE29E}">
      <dgm:prSet/>
      <dgm:spPr/>
      <dgm:t>
        <a:bodyPr/>
        <a:lstStyle/>
        <a:p>
          <a:endParaRPr lang="en-US"/>
        </a:p>
      </dgm:t>
    </dgm:pt>
    <dgm:pt modelId="{EF81175A-C9A0-4AAE-8B31-574EC324C457}" type="sibTrans" cxnId="{2D6E0CB7-03AA-4C90-9727-1A8C87AFE29E}">
      <dgm:prSet/>
      <dgm:spPr/>
      <dgm:t>
        <a:bodyPr/>
        <a:lstStyle/>
        <a:p>
          <a:endParaRPr lang="en-US"/>
        </a:p>
      </dgm:t>
    </dgm:pt>
    <dgm:pt modelId="{AF38FBAF-C5EF-43B5-A1AE-33DB606FCA8F}">
      <dgm:prSet/>
      <dgm:spPr/>
      <dgm:t>
        <a:bodyPr/>
        <a:lstStyle/>
        <a:p>
          <a:r>
            <a:rPr lang="en-US"/>
            <a:t>Common computational steps are done after this construction (d)</a:t>
          </a:r>
        </a:p>
      </dgm:t>
    </dgm:pt>
    <dgm:pt modelId="{E90E00B6-3F3C-405C-BD34-246462DAD3AE}" type="parTrans" cxnId="{2E5FE4ED-A9C7-48E6-B972-B099DDE7A32E}">
      <dgm:prSet/>
      <dgm:spPr/>
      <dgm:t>
        <a:bodyPr/>
        <a:lstStyle/>
        <a:p>
          <a:endParaRPr lang="en-US"/>
        </a:p>
      </dgm:t>
    </dgm:pt>
    <dgm:pt modelId="{6FAF1E11-2AB3-495A-B0F6-0909728DAD3D}" type="sibTrans" cxnId="{2E5FE4ED-A9C7-48E6-B972-B099DDE7A32E}">
      <dgm:prSet/>
      <dgm:spPr/>
      <dgm:t>
        <a:bodyPr/>
        <a:lstStyle/>
        <a:p>
          <a:endParaRPr lang="en-US"/>
        </a:p>
      </dgm:t>
    </dgm:pt>
    <dgm:pt modelId="{F3DE82BA-E0BF-594E-BE70-E6744DB61838}" type="pres">
      <dgm:prSet presAssocID="{125AC3AA-1A23-4914-AE27-470704CBF61A}" presName="linear" presStyleCnt="0">
        <dgm:presLayoutVars>
          <dgm:animLvl val="lvl"/>
          <dgm:resizeHandles val="exact"/>
        </dgm:presLayoutVars>
      </dgm:prSet>
      <dgm:spPr/>
    </dgm:pt>
    <dgm:pt modelId="{44C6FD1A-6379-9845-96C2-20F3FB9525BB}" type="pres">
      <dgm:prSet presAssocID="{731C05C6-17DE-4BFE-8E28-202808ACEDA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BB9F4AF-413D-C540-9BB2-89A24EB30D30}" type="pres">
      <dgm:prSet presAssocID="{37D51C3E-1D11-4A6C-82F2-F467D6A6FB5D}" presName="spacer" presStyleCnt="0"/>
      <dgm:spPr/>
    </dgm:pt>
    <dgm:pt modelId="{6038F9AF-6DC5-B44F-9906-08124474FFDE}" type="pres">
      <dgm:prSet presAssocID="{9932106E-589B-4B57-9772-34EEC97D007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F4298B5-5C12-9046-B2D4-103194A8F460}" type="pres">
      <dgm:prSet presAssocID="{684936BF-1F3A-4226-A28D-87ED0ABFF038}" presName="spacer" presStyleCnt="0"/>
      <dgm:spPr/>
    </dgm:pt>
    <dgm:pt modelId="{12CCEA1E-F89E-114D-8A10-F35890B94016}" type="pres">
      <dgm:prSet presAssocID="{D9819442-0D9E-4C71-82D1-E5C2948EF70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70117AC-6358-3240-A0C9-134EDE84717C}" type="pres">
      <dgm:prSet presAssocID="{EF81175A-C9A0-4AAE-8B31-574EC324C457}" presName="spacer" presStyleCnt="0"/>
      <dgm:spPr/>
    </dgm:pt>
    <dgm:pt modelId="{160356F5-725B-964F-8CE7-F54C41D6952A}" type="pres">
      <dgm:prSet presAssocID="{AF38FBAF-C5EF-43B5-A1AE-33DB606FCA8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B687601-D9A8-374E-9B5D-2B24C8CBEF07}" type="presOf" srcId="{9932106E-589B-4B57-9772-34EEC97D0073}" destId="{6038F9AF-6DC5-B44F-9906-08124474FFDE}" srcOrd="0" destOrd="0" presId="urn:microsoft.com/office/officeart/2005/8/layout/vList2"/>
    <dgm:cxn modelId="{57B33D02-7F66-FD40-8EF2-7D5A6981EB80}" type="presOf" srcId="{731C05C6-17DE-4BFE-8E28-202808ACEDAE}" destId="{44C6FD1A-6379-9845-96C2-20F3FB9525BB}" srcOrd="0" destOrd="0" presId="urn:microsoft.com/office/officeart/2005/8/layout/vList2"/>
    <dgm:cxn modelId="{7E2F6911-2AED-5141-A241-D8E21EA61530}" type="presOf" srcId="{AF38FBAF-C5EF-43B5-A1AE-33DB606FCA8F}" destId="{160356F5-725B-964F-8CE7-F54C41D6952A}" srcOrd="0" destOrd="0" presId="urn:microsoft.com/office/officeart/2005/8/layout/vList2"/>
    <dgm:cxn modelId="{D3E6D914-8874-6347-A4B8-7BF457F8F25B}" type="presOf" srcId="{D9819442-0D9E-4C71-82D1-E5C2948EF70A}" destId="{12CCEA1E-F89E-114D-8A10-F35890B94016}" srcOrd="0" destOrd="0" presId="urn:microsoft.com/office/officeart/2005/8/layout/vList2"/>
    <dgm:cxn modelId="{7842E896-018E-4CDC-A5AA-3C33735C6961}" srcId="{125AC3AA-1A23-4914-AE27-470704CBF61A}" destId="{9932106E-589B-4B57-9772-34EEC97D0073}" srcOrd="1" destOrd="0" parTransId="{108CE262-0FA6-4BDC-8B10-A6FC7BD8ECCB}" sibTransId="{684936BF-1F3A-4226-A28D-87ED0ABFF038}"/>
    <dgm:cxn modelId="{8DCE769C-38E2-CA48-803E-6B4D396A1F1D}" type="presOf" srcId="{125AC3AA-1A23-4914-AE27-470704CBF61A}" destId="{F3DE82BA-E0BF-594E-BE70-E6744DB61838}" srcOrd="0" destOrd="0" presId="urn:microsoft.com/office/officeart/2005/8/layout/vList2"/>
    <dgm:cxn modelId="{2D6E0CB7-03AA-4C90-9727-1A8C87AFE29E}" srcId="{125AC3AA-1A23-4914-AE27-470704CBF61A}" destId="{D9819442-0D9E-4C71-82D1-E5C2948EF70A}" srcOrd="2" destOrd="0" parTransId="{009AF45B-C84C-4859-B628-BD8D2584D455}" sibTransId="{EF81175A-C9A0-4AAE-8B31-574EC324C457}"/>
    <dgm:cxn modelId="{2E5FE4ED-A9C7-48E6-B972-B099DDE7A32E}" srcId="{125AC3AA-1A23-4914-AE27-470704CBF61A}" destId="{AF38FBAF-C5EF-43B5-A1AE-33DB606FCA8F}" srcOrd="3" destOrd="0" parTransId="{E90E00B6-3F3C-405C-BD34-246462DAD3AE}" sibTransId="{6FAF1E11-2AB3-495A-B0F6-0909728DAD3D}"/>
    <dgm:cxn modelId="{F22C47F6-BDCD-4819-BB9E-01550085844C}" srcId="{125AC3AA-1A23-4914-AE27-470704CBF61A}" destId="{731C05C6-17DE-4BFE-8E28-202808ACEDAE}" srcOrd="0" destOrd="0" parTransId="{187D1F11-0FC8-4080-9481-3529B8CCA8EB}" sibTransId="{37D51C3E-1D11-4A6C-82F2-F467D6A6FB5D}"/>
    <dgm:cxn modelId="{F6D48D74-8955-6B4E-89F5-BF7AA88D43C2}" type="presParOf" srcId="{F3DE82BA-E0BF-594E-BE70-E6744DB61838}" destId="{44C6FD1A-6379-9845-96C2-20F3FB9525BB}" srcOrd="0" destOrd="0" presId="urn:microsoft.com/office/officeart/2005/8/layout/vList2"/>
    <dgm:cxn modelId="{EC74A0B9-D0EF-C148-9993-F372E7DF4572}" type="presParOf" srcId="{F3DE82BA-E0BF-594E-BE70-E6744DB61838}" destId="{4BB9F4AF-413D-C540-9BB2-89A24EB30D30}" srcOrd="1" destOrd="0" presId="urn:microsoft.com/office/officeart/2005/8/layout/vList2"/>
    <dgm:cxn modelId="{D7F0D8B3-2857-C441-89EA-C52469FC8F99}" type="presParOf" srcId="{F3DE82BA-E0BF-594E-BE70-E6744DB61838}" destId="{6038F9AF-6DC5-B44F-9906-08124474FFDE}" srcOrd="2" destOrd="0" presId="urn:microsoft.com/office/officeart/2005/8/layout/vList2"/>
    <dgm:cxn modelId="{55CF4BCC-BC62-8C4E-8D27-D8F8834F0717}" type="presParOf" srcId="{F3DE82BA-E0BF-594E-BE70-E6744DB61838}" destId="{FF4298B5-5C12-9046-B2D4-103194A8F460}" srcOrd="3" destOrd="0" presId="urn:microsoft.com/office/officeart/2005/8/layout/vList2"/>
    <dgm:cxn modelId="{8A32EF32-D52E-FB47-870F-0E35AB8D28F8}" type="presParOf" srcId="{F3DE82BA-E0BF-594E-BE70-E6744DB61838}" destId="{12CCEA1E-F89E-114D-8A10-F35890B94016}" srcOrd="4" destOrd="0" presId="urn:microsoft.com/office/officeart/2005/8/layout/vList2"/>
    <dgm:cxn modelId="{BB27B193-3A24-6D48-B56F-7A951E74A0A2}" type="presParOf" srcId="{F3DE82BA-E0BF-594E-BE70-E6744DB61838}" destId="{570117AC-6358-3240-A0C9-134EDE84717C}" srcOrd="5" destOrd="0" presId="urn:microsoft.com/office/officeart/2005/8/layout/vList2"/>
    <dgm:cxn modelId="{858273AC-963F-724E-B289-EF57528F8A82}" type="presParOf" srcId="{F3DE82BA-E0BF-594E-BE70-E6744DB61838}" destId="{160356F5-725B-964F-8CE7-F54C41D6952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83E0B5C-DC11-47ED-8D20-C92BE5EDFD3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8C14705-0F75-47BB-BF4E-E7878BF8EF02}">
      <dgm:prSet/>
      <dgm:spPr/>
      <dgm:t>
        <a:bodyPr/>
        <a:lstStyle/>
        <a:p>
          <a:r>
            <a:rPr lang="en-US"/>
            <a:t>Inherent sparsity of data due to low copy number of DNA in cells</a:t>
          </a:r>
        </a:p>
      </dgm:t>
    </dgm:pt>
    <dgm:pt modelId="{E7D37D0E-6A4B-468C-A93D-6FCD633D0FEC}" type="parTrans" cxnId="{D68E72F0-A6C5-4EBD-9C37-700452B80054}">
      <dgm:prSet/>
      <dgm:spPr/>
      <dgm:t>
        <a:bodyPr/>
        <a:lstStyle/>
        <a:p>
          <a:endParaRPr lang="en-US"/>
        </a:p>
      </dgm:t>
    </dgm:pt>
    <dgm:pt modelId="{2627C825-B089-47A2-BE27-C35C7A541DD2}" type="sibTrans" cxnId="{D68E72F0-A6C5-4EBD-9C37-700452B80054}">
      <dgm:prSet/>
      <dgm:spPr/>
      <dgm:t>
        <a:bodyPr/>
        <a:lstStyle/>
        <a:p>
          <a:endParaRPr lang="en-US"/>
        </a:p>
      </dgm:t>
    </dgm:pt>
    <dgm:pt modelId="{18D8A3EB-0EF3-4C05-8E95-E2BE06190826}">
      <dgm:prSet/>
      <dgm:spPr/>
      <dgm:t>
        <a:bodyPr/>
        <a:lstStyle/>
        <a:p>
          <a:r>
            <a:rPr lang="en-US"/>
            <a:t>Identifying how features relate to genes is challenging as there is not a clear method to tie features to their gene targets </a:t>
          </a:r>
        </a:p>
      </dgm:t>
    </dgm:pt>
    <dgm:pt modelId="{36458B95-D762-4B94-8CA1-F74E59E5A61D}" type="parTrans" cxnId="{B69635B4-A13F-4898-B65B-DA5559782094}">
      <dgm:prSet/>
      <dgm:spPr/>
      <dgm:t>
        <a:bodyPr/>
        <a:lstStyle/>
        <a:p>
          <a:endParaRPr lang="en-US"/>
        </a:p>
      </dgm:t>
    </dgm:pt>
    <dgm:pt modelId="{BD1C4025-1CB8-445F-B5B7-8617FC3B0C0E}" type="sibTrans" cxnId="{B69635B4-A13F-4898-B65B-DA5559782094}">
      <dgm:prSet/>
      <dgm:spPr/>
      <dgm:t>
        <a:bodyPr/>
        <a:lstStyle/>
        <a:p>
          <a:endParaRPr lang="en-US"/>
        </a:p>
      </dgm:t>
    </dgm:pt>
    <dgm:pt modelId="{B9060E1C-3418-4E6E-98B7-45E2E4470CBD}">
      <dgm:prSet/>
      <dgm:spPr/>
      <dgm:t>
        <a:bodyPr/>
        <a:lstStyle/>
        <a:p>
          <a:r>
            <a:rPr lang="en-US"/>
            <a:t>A very large feature set as there are 100,000 – 250,000 accessible chromatin peaks but only 20,000 human genes </a:t>
          </a:r>
        </a:p>
      </dgm:t>
    </dgm:pt>
    <dgm:pt modelId="{B94307B8-7AD2-4376-9A2C-0F81151523DD}" type="parTrans" cxnId="{EB22191D-2F2F-467E-B0C2-A4BB451A3EBF}">
      <dgm:prSet/>
      <dgm:spPr/>
      <dgm:t>
        <a:bodyPr/>
        <a:lstStyle/>
        <a:p>
          <a:endParaRPr lang="en-US"/>
        </a:p>
      </dgm:t>
    </dgm:pt>
    <dgm:pt modelId="{1E629DAC-1E9C-4236-886E-9167DAB85AC8}" type="sibTrans" cxnId="{EB22191D-2F2F-467E-B0C2-A4BB451A3EBF}">
      <dgm:prSet/>
      <dgm:spPr/>
      <dgm:t>
        <a:bodyPr/>
        <a:lstStyle/>
        <a:p>
          <a:endParaRPr lang="en-US"/>
        </a:p>
      </dgm:t>
    </dgm:pt>
    <dgm:pt modelId="{5DC24AB0-B7FE-1C43-8852-ABFECD6811E0}" type="pres">
      <dgm:prSet presAssocID="{D83E0B5C-DC11-47ED-8D20-C92BE5EDFD3F}" presName="linear" presStyleCnt="0">
        <dgm:presLayoutVars>
          <dgm:animLvl val="lvl"/>
          <dgm:resizeHandles val="exact"/>
        </dgm:presLayoutVars>
      </dgm:prSet>
      <dgm:spPr/>
    </dgm:pt>
    <dgm:pt modelId="{CEA0A09A-62FD-9345-AAD3-40B9BAC1E498}" type="pres">
      <dgm:prSet presAssocID="{88C14705-0F75-47BB-BF4E-E7878BF8EF0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7FA613E-E40B-CE45-8544-FEBCFD8D686C}" type="pres">
      <dgm:prSet presAssocID="{2627C825-B089-47A2-BE27-C35C7A541DD2}" presName="spacer" presStyleCnt="0"/>
      <dgm:spPr/>
    </dgm:pt>
    <dgm:pt modelId="{C0D18D42-248D-C147-8298-A542E396675F}" type="pres">
      <dgm:prSet presAssocID="{18D8A3EB-0EF3-4C05-8E95-E2BE0619082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1FE0A90-A12B-2749-84CB-562974C00638}" type="pres">
      <dgm:prSet presAssocID="{BD1C4025-1CB8-445F-B5B7-8617FC3B0C0E}" presName="spacer" presStyleCnt="0"/>
      <dgm:spPr/>
    </dgm:pt>
    <dgm:pt modelId="{C0485A3B-8A83-3947-B18E-633809B41C7B}" type="pres">
      <dgm:prSet presAssocID="{B9060E1C-3418-4E6E-98B7-45E2E4470CB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B22191D-2F2F-467E-B0C2-A4BB451A3EBF}" srcId="{D83E0B5C-DC11-47ED-8D20-C92BE5EDFD3F}" destId="{B9060E1C-3418-4E6E-98B7-45E2E4470CBD}" srcOrd="2" destOrd="0" parTransId="{B94307B8-7AD2-4376-9A2C-0F81151523DD}" sibTransId="{1E629DAC-1E9C-4236-886E-9167DAB85AC8}"/>
    <dgm:cxn modelId="{92D3CD7A-6C01-394E-AE1A-EDC48BC99026}" type="presOf" srcId="{88C14705-0F75-47BB-BF4E-E7878BF8EF02}" destId="{CEA0A09A-62FD-9345-AAD3-40B9BAC1E498}" srcOrd="0" destOrd="0" presId="urn:microsoft.com/office/officeart/2005/8/layout/vList2"/>
    <dgm:cxn modelId="{D8191C89-1DDE-E84F-A1BF-B05D378E82BD}" type="presOf" srcId="{D83E0B5C-DC11-47ED-8D20-C92BE5EDFD3F}" destId="{5DC24AB0-B7FE-1C43-8852-ABFECD6811E0}" srcOrd="0" destOrd="0" presId="urn:microsoft.com/office/officeart/2005/8/layout/vList2"/>
    <dgm:cxn modelId="{B69635B4-A13F-4898-B65B-DA5559782094}" srcId="{D83E0B5C-DC11-47ED-8D20-C92BE5EDFD3F}" destId="{18D8A3EB-0EF3-4C05-8E95-E2BE06190826}" srcOrd="1" destOrd="0" parTransId="{36458B95-D762-4B94-8CA1-F74E59E5A61D}" sibTransId="{BD1C4025-1CB8-445F-B5B7-8617FC3B0C0E}"/>
    <dgm:cxn modelId="{3CD51BCF-79E1-1049-8DCB-2FA295E3273D}" type="presOf" srcId="{B9060E1C-3418-4E6E-98B7-45E2E4470CBD}" destId="{C0485A3B-8A83-3947-B18E-633809B41C7B}" srcOrd="0" destOrd="0" presId="urn:microsoft.com/office/officeart/2005/8/layout/vList2"/>
    <dgm:cxn modelId="{0EB95BD1-6A57-3C4E-99B2-3C5910FD0315}" type="presOf" srcId="{18D8A3EB-0EF3-4C05-8E95-E2BE06190826}" destId="{C0D18D42-248D-C147-8298-A542E396675F}" srcOrd="0" destOrd="0" presId="urn:microsoft.com/office/officeart/2005/8/layout/vList2"/>
    <dgm:cxn modelId="{D68E72F0-A6C5-4EBD-9C37-700452B80054}" srcId="{D83E0B5C-DC11-47ED-8D20-C92BE5EDFD3F}" destId="{88C14705-0F75-47BB-BF4E-E7878BF8EF02}" srcOrd="0" destOrd="0" parTransId="{E7D37D0E-6A4B-468C-A93D-6FCD633D0FEC}" sibTransId="{2627C825-B089-47A2-BE27-C35C7A541DD2}"/>
    <dgm:cxn modelId="{CB978F39-3AE7-7645-BA7C-AE43DC100D83}" type="presParOf" srcId="{5DC24AB0-B7FE-1C43-8852-ABFECD6811E0}" destId="{CEA0A09A-62FD-9345-AAD3-40B9BAC1E498}" srcOrd="0" destOrd="0" presId="urn:microsoft.com/office/officeart/2005/8/layout/vList2"/>
    <dgm:cxn modelId="{7CE55824-42B2-3042-93E7-96D757FC159F}" type="presParOf" srcId="{5DC24AB0-B7FE-1C43-8852-ABFECD6811E0}" destId="{47FA613E-E40B-CE45-8544-FEBCFD8D686C}" srcOrd="1" destOrd="0" presId="urn:microsoft.com/office/officeart/2005/8/layout/vList2"/>
    <dgm:cxn modelId="{559D64FA-261A-D04D-B9B0-073B570DB7D0}" type="presParOf" srcId="{5DC24AB0-B7FE-1C43-8852-ABFECD6811E0}" destId="{C0D18D42-248D-C147-8298-A542E396675F}" srcOrd="2" destOrd="0" presId="urn:microsoft.com/office/officeart/2005/8/layout/vList2"/>
    <dgm:cxn modelId="{3107A259-6143-DB4F-89CD-0AB9B0AFF494}" type="presParOf" srcId="{5DC24AB0-B7FE-1C43-8852-ABFECD6811E0}" destId="{E1FE0A90-A12B-2749-84CB-562974C00638}" srcOrd="3" destOrd="0" presId="urn:microsoft.com/office/officeart/2005/8/layout/vList2"/>
    <dgm:cxn modelId="{51008AB7-61A3-2A4D-B0AF-F0D7FB640F4B}" type="presParOf" srcId="{5DC24AB0-B7FE-1C43-8852-ABFECD6811E0}" destId="{C0485A3B-8A83-3947-B18E-633809B41C7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F52E25-C930-1240-81EE-5653BA79AF4D}">
      <dsp:nvSpPr>
        <dsp:cNvPr id="0" name=""/>
        <dsp:cNvSpPr/>
      </dsp:nvSpPr>
      <dsp:spPr>
        <a:xfrm>
          <a:off x="0" y="0"/>
          <a:ext cx="69494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1968FA-06CA-E947-B8DF-22FF8FFAE7EB}">
      <dsp:nvSpPr>
        <dsp:cNvPr id="0" name=""/>
        <dsp:cNvSpPr/>
      </dsp:nvSpPr>
      <dsp:spPr>
        <a:xfrm>
          <a:off x="0" y="0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Signac is the variant filtering method written by the authors of mgatk to integrate variants into Seurat objects (similar to anndata objects) in R</a:t>
          </a:r>
        </a:p>
      </dsp:txBody>
      <dsp:txXfrm>
        <a:off x="0" y="0"/>
        <a:ext cx="6949440" cy="1446659"/>
      </dsp:txXfrm>
    </dsp:sp>
    <dsp:sp modelId="{F149DC8C-068C-0844-8DE4-2E39B1188514}">
      <dsp:nvSpPr>
        <dsp:cNvPr id="0" name=""/>
        <dsp:cNvSpPr/>
      </dsp:nvSpPr>
      <dsp:spPr>
        <a:xfrm>
          <a:off x="0" y="1446659"/>
          <a:ext cx="6949440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FB77B6-EF72-7540-A977-A7CBCE60E497}">
      <dsp:nvSpPr>
        <dsp:cNvPr id="0" name=""/>
        <dsp:cNvSpPr/>
      </dsp:nvSpPr>
      <dsp:spPr>
        <a:xfrm>
          <a:off x="0" y="1446659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Alleles are called as variants if there are at least two calls at that position with the allele on both strands </a:t>
          </a:r>
        </a:p>
      </dsp:txBody>
      <dsp:txXfrm>
        <a:off x="0" y="1446659"/>
        <a:ext cx="6949440" cy="1446659"/>
      </dsp:txXfrm>
    </dsp:sp>
    <dsp:sp modelId="{4E138155-8E1C-014D-9500-1C4065D7633F}">
      <dsp:nvSpPr>
        <dsp:cNvPr id="0" name=""/>
        <dsp:cNvSpPr/>
      </dsp:nvSpPr>
      <dsp:spPr>
        <a:xfrm>
          <a:off x="0" y="2893318"/>
          <a:ext cx="6949440" cy="0"/>
        </a:xfrm>
        <a:prstGeom prst="line">
          <a:avLst/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2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0239C-3B26-774A-98F9-445F6DEAE00F}">
      <dsp:nvSpPr>
        <dsp:cNvPr id="0" name=""/>
        <dsp:cNvSpPr/>
      </dsp:nvSpPr>
      <dsp:spPr>
        <a:xfrm>
          <a:off x="0" y="2893318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Strand concordance of counts is measured with pearson correlation, and variants with low concordances are cut</a:t>
          </a:r>
        </a:p>
      </dsp:txBody>
      <dsp:txXfrm>
        <a:off x="0" y="2893318"/>
        <a:ext cx="6949440" cy="1446659"/>
      </dsp:txXfrm>
    </dsp:sp>
    <dsp:sp modelId="{857A437E-B351-2743-A875-CC676BCFC19F}">
      <dsp:nvSpPr>
        <dsp:cNvPr id="0" name=""/>
        <dsp:cNvSpPr/>
      </dsp:nvSpPr>
      <dsp:spPr>
        <a:xfrm>
          <a:off x="0" y="4339978"/>
          <a:ext cx="6949440" cy="0"/>
        </a:xfrm>
        <a:prstGeom prst="line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388A8A-4D1C-8D43-A6D1-FEC1F626CA7D}">
      <dsp:nvSpPr>
        <dsp:cNvPr id="0" name=""/>
        <dsp:cNvSpPr/>
      </dsp:nvSpPr>
      <dsp:spPr>
        <a:xfrm>
          <a:off x="0" y="4339978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Finally variance mean ratio (VMR) is calculated and variants with very low VMR are also cut (indicative of sequencing bias etc)</a:t>
          </a:r>
        </a:p>
      </dsp:txBody>
      <dsp:txXfrm>
        <a:off x="0" y="4339978"/>
        <a:ext cx="6949440" cy="14466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C6FD1A-6379-9845-96C2-20F3FB9525BB}">
      <dsp:nvSpPr>
        <dsp:cNvPr id="0" name=""/>
        <dsp:cNvSpPr/>
      </dsp:nvSpPr>
      <dsp:spPr>
        <a:xfrm>
          <a:off x="0" y="581949"/>
          <a:ext cx="565224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Raw sequencing reads are scanned for barcodes and then aligned to the genome (b)</a:t>
          </a:r>
        </a:p>
      </dsp:txBody>
      <dsp:txXfrm>
        <a:off x="36896" y="618845"/>
        <a:ext cx="5578455" cy="682028"/>
      </dsp:txXfrm>
    </dsp:sp>
    <dsp:sp modelId="{6038F9AF-6DC5-B44F-9906-08124474FFDE}">
      <dsp:nvSpPr>
        <dsp:cNvPr id="0" name=""/>
        <dsp:cNvSpPr/>
      </dsp:nvSpPr>
      <dsp:spPr>
        <a:xfrm>
          <a:off x="0" y="1392489"/>
          <a:ext cx="565224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Peak regions and counts are returned (c)</a:t>
          </a:r>
        </a:p>
      </dsp:txBody>
      <dsp:txXfrm>
        <a:off x="36896" y="1429385"/>
        <a:ext cx="5578455" cy="682028"/>
      </dsp:txXfrm>
    </dsp:sp>
    <dsp:sp modelId="{12CCEA1E-F89E-114D-8A10-F35890B94016}">
      <dsp:nvSpPr>
        <dsp:cNvPr id="0" name=""/>
        <dsp:cNvSpPr/>
      </dsp:nvSpPr>
      <dsp:spPr>
        <a:xfrm>
          <a:off x="0" y="2203029"/>
          <a:ext cx="565224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 peak matrix can be constructed from fragments and counts in each cell (c) (think back to anndata)</a:t>
          </a:r>
        </a:p>
      </dsp:txBody>
      <dsp:txXfrm>
        <a:off x="36896" y="2239925"/>
        <a:ext cx="5578455" cy="682028"/>
      </dsp:txXfrm>
    </dsp:sp>
    <dsp:sp modelId="{160356F5-725B-964F-8CE7-F54C41D6952A}">
      <dsp:nvSpPr>
        <dsp:cNvPr id="0" name=""/>
        <dsp:cNvSpPr/>
      </dsp:nvSpPr>
      <dsp:spPr>
        <a:xfrm>
          <a:off x="0" y="3013569"/>
          <a:ext cx="565224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Common computational steps are done after this construction (d)</a:t>
          </a:r>
        </a:p>
      </dsp:txBody>
      <dsp:txXfrm>
        <a:off x="36896" y="3050465"/>
        <a:ext cx="5578455" cy="6820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A0A09A-62FD-9345-AAD3-40B9BAC1E498}">
      <dsp:nvSpPr>
        <dsp:cNvPr id="0" name=""/>
        <dsp:cNvSpPr/>
      </dsp:nvSpPr>
      <dsp:spPr>
        <a:xfrm>
          <a:off x="0" y="463172"/>
          <a:ext cx="6949440" cy="156633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Inherent sparsity of data due to low copy number of DNA in cells</a:t>
          </a:r>
        </a:p>
      </dsp:txBody>
      <dsp:txXfrm>
        <a:off x="76462" y="539634"/>
        <a:ext cx="6796516" cy="1413413"/>
      </dsp:txXfrm>
    </dsp:sp>
    <dsp:sp modelId="{C0D18D42-248D-C147-8298-A542E396675F}">
      <dsp:nvSpPr>
        <dsp:cNvPr id="0" name=""/>
        <dsp:cNvSpPr/>
      </dsp:nvSpPr>
      <dsp:spPr>
        <a:xfrm>
          <a:off x="0" y="2110149"/>
          <a:ext cx="6949440" cy="1566337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Identifying how features relate to genes is challenging as there is not a clear method to tie features to their gene targets </a:t>
          </a:r>
        </a:p>
      </dsp:txBody>
      <dsp:txXfrm>
        <a:off x="76462" y="2186611"/>
        <a:ext cx="6796516" cy="1413413"/>
      </dsp:txXfrm>
    </dsp:sp>
    <dsp:sp modelId="{C0485A3B-8A83-3947-B18E-633809B41C7B}">
      <dsp:nvSpPr>
        <dsp:cNvPr id="0" name=""/>
        <dsp:cNvSpPr/>
      </dsp:nvSpPr>
      <dsp:spPr>
        <a:xfrm>
          <a:off x="0" y="3757127"/>
          <a:ext cx="6949440" cy="1566337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 very large feature set as there are 100,000 – 250,000 accessible chromatin peaks but only 20,000 human genes </a:t>
          </a:r>
        </a:p>
      </dsp:txBody>
      <dsp:txXfrm>
        <a:off x="76462" y="3833589"/>
        <a:ext cx="6796516" cy="14134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DEB0C-4DF0-C16F-112C-5E7B2BEA0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48B91E-26FC-3A0D-4DC9-FAE3FC15EE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4F3F9-ADEA-D9C8-6E42-F5EE04E83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52D7D-7E56-0F42-9933-DBD2FCFFC576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836D3-C63D-1A7F-FDE8-7DDE30450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F06D1-3D89-D311-1129-E30708F62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438F-D4CE-EC4A-883B-CFA366810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320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2F8D9-D19F-BF1E-6C7B-93F08D117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580CD-5699-24B7-8C32-BDA6ED06B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8E352-B4E7-2423-10F1-33D4BCB2C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52D7D-7E56-0F42-9933-DBD2FCFFC576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E767F-8F75-00DC-5CB1-761B4EE6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A1D05-9C62-B2E2-7E1F-4B49AB3FC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438F-D4CE-EC4A-883B-CFA366810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56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304B-D9A6-BFF6-772B-58B914BCA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14DA5D-0F1A-3218-8960-95E322A28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1094B-7178-B4AF-F765-E55796889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52D7D-7E56-0F42-9933-DBD2FCFFC576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FD5FE-7589-509D-9A89-2E9107D2E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8F8D2-9289-DADD-095B-FF19E15C4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438F-D4CE-EC4A-883B-CFA366810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19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1EF93-350E-56F6-E452-FAD89CC61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0FBBA-E096-F24F-CF04-B43292A8CF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F64064-A581-B1F5-D84E-5113C210A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051CC-331A-2E9E-CE06-91843C380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52D7D-7E56-0F42-9933-DBD2FCFFC576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9E4013-1101-8FA0-819E-534865C0E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7AE00-60D7-0533-F9D1-504242C8E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438F-D4CE-EC4A-883B-CFA366810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52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87552-AA77-BC29-7AC5-3052AB3FB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19106-7CFD-B6B0-E46C-15EC8D7BD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89032-CC5E-C35F-8FB2-3919007BF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C55C1B-4AEB-A59C-E16E-C18F72F941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DBE8E6-02F1-F749-607E-1C091DCD5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363F88-1191-6AF9-48F0-B6843E718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52D7D-7E56-0F42-9933-DBD2FCFFC576}" type="datetimeFigureOut">
              <a:rPr lang="en-US" smtClean="0"/>
              <a:t>9/15/25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BEB451-F20F-AF33-31D7-2D55D22F5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1C92E5-9441-8F09-507F-331388E0E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438F-D4CE-EC4A-883B-CFA366810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014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D2ADF-C19C-9BE0-FB0F-788013051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77F977-0FF5-5D24-2805-719988DA0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52D7D-7E56-0F42-9933-DBD2FCFFC576}" type="datetimeFigureOut">
              <a:rPr lang="en-US" smtClean="0"/>
              <a:t>9/15/25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8BD0B4-F1C4-16DA-0772-D684EEB8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F9BA4-C1EF-349F-05BE-0DC6A2181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438F-D4CE-EC4A-883B-CFA366810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249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05B8B9-1603-F2E6-3CEA-E7412990C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52D7D-7E56-0F42-9933-DBD2FCFFC576}" type="datetimeFigureOut">
              <a:rPr lang="en-US" smtClean="0"/>
              <a:t>9/15/25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DB72A-16CD-3090-6357-7CE529EE0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7549A-B752-540E-FB00-4ABB0283D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438F-D4CE-EC4A-883B-CFA366810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574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65A82-EDE7-EAE6-7118-36D14AA8E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B0AE0-FFCD-5546-CF32-5FB0C4783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E40A3-F07F-9704-947E-87242F4E0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30E79-2978-44F1-ECA6-EEDF5D50D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52D7D-7E56-0F42-9933-DBD2FCFFC576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629E3-7DA6-4646-087A-6DE0F34D5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F9DB3-A276-33C4-DED3-2AB310859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438F-D4CE-EC4A-883B-CFA366810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521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C6130-B654-5614-E635-5BC7D63DC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DBA164-D5D8-3D5F-9342-9E024EE579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A4B30-5D12-DB6A-BF52-C02A3BF58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A7B5E-8981-A7C2-A376-A6DA2C8B8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52D7D-7E56-0F42-9933-DBD2FCFFC576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C1D53-989D-DDD2-4BE0-6AF27EBEC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8ED82-0E1E-A2D0-4F3A-66B16852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438F-D4CE-EC4A-883B-CFA366810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555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BC385-DDF2-C56C-6655-C4CD99384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7BD636-78EF-BD4B-D9D7-1997A00E9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466B8-C1E1-AF48-77EC-4B5D6BE6D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52D7D-7E56-0F42-9933-DBD2FCFFC576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413A5-2B60-C8EC-796A-906CC81F4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F3EF5-0A01-F2C9-D03D-1C6A46EB0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438F-D4CE-EC4A-883B-CFA366810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563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097EE0-7475-9D69-B145-8CE3EEAD7A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2082F8-F4DB-2EEB-F923-92B8EF6D53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845AA-C073-7242-898A-A769F6A3C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52D7D-7E56-0F42-9933-DBD2FCFFC576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8FDB6-8F3A-FC4C-3C4F-624D84F11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09E26-B03A-6FCC-5A6D-96309620C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C438F-D4CE-EC4A-883B-CFA366810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541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447480-5B6B-F073-D2A7-CB13DC31D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729A2-42F5-EA91-7FE0-53BE291B4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656D9-BFFE-BB7A-E1E4-7CDD704F9A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852D7D-7E56-0F42-9933-DBD2FCFFC576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3FCA9-78C9-B357-247D-1EF201C302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511D8-D7E8-A1A3-E402-D014987903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EC438F-D4CE-EC4A-883B-CFA366810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004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0991C-0CC9-6E16-8AF7-904815B56B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Making </a:t>
            </a:r>
            <a:r>
              <a:rPr lang="en-US" dirty="0" err="1"/>
              <a:t>Py-mTCall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0142DE-C0BD-8456-8BBA-1783ADD99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python implementation of some of the functionality of Signac </a:t>
            </a:r>
          </a:p>
        </p:txBody>
      </p:sp>
    </p:spTree>
    <p:extLst>
      <p:ext uri="{BB962C8B-B14F-4D97-AF65-F5344CB8AC3E}">
        <p14:creationId xmlns:p14="http://schemas.microsoft.com/office/powerpoint/2010/main" val="2967172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E1E4A13-059C-3987-D81D-21DC534FCCD5}"/>
              </a:ext>
            </a:extLst>
          </p:cNvPr>
          <p:cNvSpPr txBox="1"/>
          <p:nvPr/>
        </p:nvSpPr>
        <p:spPr>
          <a:xfrm>
            <a:off x="6823587" y="346008"/>
            <a:ext cx="555522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Anndata</a:t>
            </a:r>
            <a:r>
              <a:rPr lang="en-US" dirty="0"/>
              <a:t> is designed for matrix like data such as </a:t>
            </a:r>
            <a:r>
              <a:rPr lang="en-US" dirty="0" err="1"/>
              <a:t>scRNA</a:t>
            </a:r>
            <a:r>
              <a:rPr lang="en-US" dirty="0"/>
              <a:t>-Seq data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</a:t>
            </a:r>
            <a:r>
              <a:rPr lang="en-US" dirty="0" err="1"/>
              <a:t>scRNA</a:t>
            </a:r>
            <a:r>
              <a:rPr lang="en-US" dirty="0"/>
              <a:t>-Seq, each row corresponds to a cell with a barcode, each column to a gene with an id.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cell and each gene might have additional metadata like donor information or alternative gene symbols.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Finally, there might be other unstructured metadata like </a:t>
            </a:r>
            <a:r>
              <a:rPr lang="en-US" dirty="0" err="1"/>
              <a:t>colour</a:t>
            </a:r>
            <a:r>
              <a:rPr lang="en-US" dirty="0"/>
              <a:t> </a:t>
            </a:r>
            <a:r>
              <a:rPr lang="en-US" dirty="0" err="1"/>
              <a:t>palletes</a:t>
            </a:r>
            <a:r>
              <a:rPr lang="en-US" dirty="0"/>
              <a:t> used for plotting.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 the basic counts matrix will be stored in .X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Observation annotations like cell IDs will be stored in .</a:t>
            </a:r>
            <a:r>
              <a:rPr lang="en-US" dirty="0" err="1"/>
              <a:t>obs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 annotations will be stored in .var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Any unstructured annotations like </a:t>
            </a:r>
            <a:r>
              <a:rPr lang="en-US" dirty="0" err="1"/>
              <a:t>colours</a:t>
            </a:r>
            <a:r>
              <a:rPr lang="en-US" dirty="0"/>
              <a:t> will be stored in .</a:t>
            </a:r>
            <a:r>
              <a:rPr lang="en-US" dirty="0" err="1"/>
              <a:t>uns</a:t>
            </a:r>
            <a:endParaRPr lang="en-US" dirty="0"/>
          </a:p>
        </p:txBody>
      </p:sp>
      <p:pic>
        <p:nvPicPr>
          <p:cNvPr id="14" name="Content Placeholder 13" descr="A screenshot of a computer&#10;&#10;Description automatically generated">
            <a:extLst>
              <a:ext uri="{FF2B5EF4-FFF2-40B4-BE49-F238E27FC236}">
                <a16:creationId xmlns:a16="http://schemas.microsoft.com/office/drawing/2014/main" id="{932CE113-1CEB-B57C-A0C7-B10B81F2CC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5353" y="621249"/>
            <a:ext cx="6067273" cy="4815989"/>
          </a:xfrm>
        </p:spPr>
      </p:pic>
    </p:spTree>
    <p:extLst>
      <p:ext uri="{BB962C8B-B14F-4D97-AF65-F5344CB8AC3E}">
        <p14:creationId xmlns:p14="http://schemas.microsoft.com/office/powerpoint/2010/main" val="2212048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3A25D-A8A1-CF24-A7A5-3C3762B92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Mitochondrial Variant Calling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5AF13-FAF8-A34A-8375-86B812C36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Mgatk</a:t>
            </a:r>
            <a:r>
              <a:rPr lang="en-US" dirty="0"/>
              <a:t> is a python based tool for generating mitochondrial variant data from BAM files </a:t>
            </a:r>
          </a:p>
          <a:p>
            <a:r>
              <a:rPr lang="en-US" dirty="0"/>
              <a:t>It simply gives outputs of per-cell, per-strand counts of all alleles at all positions in the mitochondrial genome</a:t>
            </a:r>
          </a:p>
          <a:p>
            <a:r>
              <a:rPr lang="en-US" dirty="0"/>
              <a:t>You also get a few other helpful files like overall depth in each cell and at each position  </a:t>
            </a:r>
          </a:p>
        </p:txBody>
      </p:sp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0618C6F0-2594-C78F-8089-DC9223E55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053" y="558006"/>
            <a:ext cx="26289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088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00F48-5F95-04DA-FB39-1614E75EF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Signac variant filtering method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72B043-94CB-A639-AB28-1AF8D4002D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2129721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1689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B6179-B26B-7C69-2967-E84A9BBA7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Red cells indicate good mutation calls (NOT CELLS)</a:t>
            </a:r>
          </a:p>
        </p:txBody>
      </p:sp>
      <p:pic>
        <p:nvPicPr>
          <p:cNvPr id="5" name="Content Placeholder 4" descr="A graph of a line graph&#10;&#10;Description automatically generated with medium confidence">
            <a:extLst>
              <a:ext uri="{FF2B5EF4-FFF2-40B4-BE49-F238E27FC236}">
                <a16:creationId xmlns:a16="http://schemas.microsoft.com/office/drawing/2014/main" id="{0AC6B5F8-0DFF-6436-C013-95E5C5776F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9682" y="1966293"/>
            <a:ext cx="9132634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613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0A810-5AFE-F6F2-4F4A-CADC3B291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Integrating ATAC-Seq data with mitochondrial variant calling 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10B4AC31-600D-CCB3-AD23-3821895AFE0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01552" y="1825625"/>
          <a:ext cx="565224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A close-up of a diagram&#10;&#10;Description automatically generated">
            <a:extLst>
              <a:ext uri="{FF2B5EF4-FFF2-40B4-BE49-F238E27FC236}">
                <a16:creationId xmlns:a16="http://schemas.microsoft.com/office/drawing/2014/main" id="{58536D57-4733-5D0C-764F-B8D07FD8D9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53" y="1690688"/>
            <a:ext cx="4343400" cy="4610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5EB1B1-05A3-396A-887C-BF708E7F6FD7}"/>
              </a:ext>
            </a:extLst>
          </p:cNvPr>
          <p:cNvSpPr txBox="1"/>
          <p:nvPr/>
        </p:nvSpPr>
        <p:spPr>
          <a:xfrm>
            <a:off x="481853" y="6414247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Lareau et al; 2019</a:t>
            </a:r>
          </a:p>
        </p:txBody>
      </p:sp>
    </p:spTree>
    <p:extLst>
      <p:ext uri="{BB962C8B-B14F-4D97-AF65-F5344CB8AC3E}">
        <p14:creationId xmlns:p14="http://schemas.microsoft.com/office/powerpoint/2010/main" val="2819131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2E2A2-0C0A-2F0A-EB13-A8E165098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US" sz="4100"/>
              <a:t>Computational Challenges with </a:t>
            </a:r>
            <a:r>
              <a:rPr lang="en-US" sz="4100" err="1"/>
              <a:t>scATAC</a:t>
            </a:r>
            <a:r>
              <a:rPr lang="en-US" sz="4100"/>
              <a:t>-Seq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B0631D-D2D2-A124-E388-793FF1F718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7176116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7998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0426E-891A-14A7-778C-8FCA13F42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scATAC</a:t>
            </a:r>
            <a:r>
              <a:rPr lang="en-US" dirty="0"/>
              <a:t>-Seq Method Comparison</a:t>
            </a:r>
          </a:p>
        </p:txBody>
      </p:sp>
      <p:pic>
        <p:nvPicPr>
          <p:cNvPr id="5" name="Content Placeholder 4" descr="A diagram of a method of modeling&#10;&#10;Description automatically generated with medium confidence">
            <a:extLst>
              <a:ext uri="{FF2B5EF4-FFF2-40B4-BE49-F238E27FC236}">
                <a16:creationId xmlns:a16="http://schemas.microsoft.com/office/drawing/2014/main" id="{F1DFD26C-CD56-91A4-10C1-94B4C44B10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095" y="1745689"/>
            <a:ext cx="5672751" cy="3798421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81AB80-D45F-E2FA-DB90-B839981A4C1F}"/>
              </a:ext>
            </a:extLst>
          </p:cNvPr>
          <p:cNvSpPr txBox="1"/>
          <p:nvPr/>
        </p:nvSpPr>
        <p:spPr>
          <a:xfrm>
            <a:off x="481853" y="6414247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Lareau et al; 2019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C14D03-E86B-0C00-8E2C-DB31E5D40F45}"/>
              </a:ext>
            </a:extLst>
          </p:cNvPr>
          <p:cNvSpPr txBox="1"/>
          <p:nvPr/>
        </p:nvSpPr>
        <p:spPr>
          <a:xfrm>
            <a:off x="6833286" y="1745689"/>
            <a:ext cx="46214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are lots of different ways to process </a:t>
            </a:r>
            <a:r>
              <a:rPr lang="en-US" dirty="0" err="1"/>
              <a:t>scATAC</a:t>
            </a:r>
            <a:r>
              <a:rPr lang="en-US" dirty="0"/>
              <a:t>-Seq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main differences comprise of defining regions of interest, feature counting and transformation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programs use similar steps after this for constructing UMAPs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Note that </a:t>
            </a:r>
            <a:r>
              <a:rPr lang="en-US" dirty="0" err="1"/>
              <a:t>signac</a:t>
            </a:r>
            <a:r>
              <a:rPr lang="en-US" dirty="0"/>
              <a:t> is not included but it defines regions by </a:t>
            </a:r>
            <a:r>
              <a:rPr lang="en-US" b="1" dirty="0"/>
              <a:t>peaks on bulk data, </a:t>
            </a:r>
            <a:r>
              <a:rPr lang="en-US" dirty="0"/>
              <a:t>counts features based on </a:t>
            </a:r>
            <a:r>
              <a:rPr lang="en-US" b="1" dirty="0"/>
              <a:t>peaks </a:t>
            </a:r>
            <a:r>
              <a:rPr lang="en-US" dirty="0"/>
              <a:t>and transformation is </a:t>
            </a:r>
            <a:r>
              <a:rPr lang="en-US" b="1" dirty="0"/>
              <a:t>TF-IDF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All of these steps differ from </a:t>
            </a:r>
            <a:r>
              <a:rPr lang="en-US" b="1" dirty="0" err="1"/>
              <a:t>snapATAC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721E9BE-C8B7-9898-9F11-5A0C8A225012}"/>
              </a:ext>
            </a:extLst>
          </p:cNvPr>
          <p:cNvSpPr/>
          <p:nvPr/>
        </p:nvSpPr>
        <p:spPr>
          <a:xfrm>
            <a:off x="4825253" y="3429000"/>
            <a:ext cx="735288" cy="21624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211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02A2A-86A5-5840-E995-09CAB336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Maths</a:t>
            </a:r>
            <a:r>
              <a:rPr lang="en-US" dirty="0"/>
              <a:t>: Signac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151BAC-D904-F5BD-34B3-EF7448C620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0042434"/>
              </p:ext>
            </p:extLst>
          </p:nvPr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54213479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9215866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1683416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177077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401609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Peak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Cell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Cell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Cell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630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1:100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067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2:100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448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5631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1BC2615-49EE-96BD-F45C-68843012666F}"/>
              </a:ext>
            </a:extLst>
          </p:cNvPr>
          <p:cNvSpPr txBox="1"/>
          <p:nvPr/>
        </p:nvSpPr>
        <p:spPr>
          <a:xfrm>
            <a:off x="838200" y="3835400"/>
            <a:ext cx="106934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LSI in Signac </a:t>
            </a:r>
          </a:p>
          <a:p>
            <a:br>
              <a:rPr lang="en-US" dirty="0"/>
            </a:br>
            <a:r>
              <a:rPr lang="en-US" b="1" dirty="0"/>
              <a:t>TF = </a:t>
            </a:r>
            <a:r>
              <a:rPr lang="en-US" b="1" dirty="0" err="1"/>
              <a:t>C</a:t>
            </a:r>
            <a:r>
              <a:rPr lang="en-US" sz="1600" b="1" baseline="-25000" dirty="0" err="1"/>
              <a:t>ij</a:t>
            </a:r>
            <a:r>
              <a:rPr lang="en-US" sz="1600" b="1" dirty="0"/>
              <a:t>/F</a:t>
            </a:r>
            <a:r>
              <a:rPr lang="en-US" sz="1600" b="1" baseline="-25000" dirty="0"/>
              <a:t>j  </a:t>
            </a:r>
            <a:r>
              <a:rPr lang="en-US" sz="1600" b="1" dirty="0"/>
              <a:t> </a:t>
            </a:r>
            <a:r>
              <a:rPr lang="en-US" sz="1600" dirty="0"/>
              <a:t>Where </a:t>
            </a:r>
            <a:r>
              <a:rPr lang="en-US" sz="1600" b="1" dirty="0"/>
              <a:t>C = total counts for peak </a:t>
            </a:r>
            <a:r>
              <a:rPr lang="en-US" sz="1600" b="1" i="1" dirty="0"/>
              <a:t>“</a:t>
            </a:r>
            <a:r>
              <a:rPr lang="en-US" sz="1600" b="1" i="1" dirty="0" err="1"/>
              <a:t>i</a:t>
            </a:r>
            <a:r>
              <a:rPr lang="en-US" sz="1600" b="1" i="1" dirty="0"/>
              <a:t>”</a:t>
            </a:r>
            <a:r>
              <a:rPr lang="en-US" sz="1600" b="1" dirty="0"/>
              <a:t> in cell </a:t>
            </a:r>
            <a:r>
              <a:rPr lang="en-US" sz="1600" b="1" i="1" dirty="0"/>
              <a:t>j</a:t>
            </a:r>
          </a:p>
          <a:p>
            <a:r>
              <a:rPr lang="en-US" sz="1600" dirty="0"/>
              <a:t>	                </a:t>
            </a:r>
            <a:r>
              <a:rPr lang="en-US" sz="1600" b="1" dirty="0"/>
              <a:t>F = total number of counts </a:t>
            </a:r>
            <a:r>
              <a:rPr lang="en-US" sz="1600" b="1" i="1" dirty="0"/>
              <a:t>for</a:t>
            </a:r>
            <a:r>
              <a:rPr lang="en-US" sz="1600" b="1" dirty="0"/>
              <a:t> cell </a:t>
            </a:r>
            <a:r>
              <a:rPr lang="en-US" sz="1600" b="1" i="1" dirty="0"/>
              <a:t>j</a:t>
            </a:r>
          </a:p>
          <a:p>
            <a:endParaRPr lang="en-US" sz="1600" dirty="0"/>
          </a:p>
          <a:p>
            <a:r>
              <a:rPr lang="en-US" sz="1600" b="1" dirty="0"/>
              <a:t>IDF = N/</a:t>
            </a:r>
            <a:r>
              <a:rPr lang="en-US" sz="1600" b="1" dirty="0" err="1"/>
              <a:t>n</a:t>
            </a:r>
            <a:r>
              <a:rPr lang="en-US" sz="1600" b="1" baseline="-25000" dirty="0" err="1"/>
              <a:t>i</a:t>
            </a:r>
            <a:r>
              <a:rPr lang="en-US" sz="1600" b="1" dirty="0"/>
              <a:t> </a:t>
            </a:r>
            <a:r>
              <a:rPr lang="en-US" sz="1600" dirty="0"/>
              <a:t>Where </a:t>
            </a:r>
            <a:r>
              <a:rPr lang="en-US" sz="1600" b="1" dirty="0"/>
              <a:t>N = total number of cells in dataset</a:t>
            </a:r>
          </a:p>
          <a:p>
            <a:r>
              <a:rPr lang="en-US" sz="1600" b="1" dirty="0"/>
              <a:t>	              </a:t>
            </a:r>
            <a:r>
              <a:rPr lang="en-US" sz="1600" b="1" dirty="0" err="1"/>
              <a:t>n</a:t>
            </a:r>
            <a:r>
              <a:rPr lang="en-US" sz="1600" b="1" baseline="-25000" dirty="0" err="1"/>
              <a:t>i</a:t>
            </a:r>
            <a:r>
              <a:rPr lang="en-US" sz="1600" b="1" dirty="0"/>
              <a:t> = total number of counts for peak </a:t>
            </a:r>
            <a:r>
              <a:rPr lang="en-US" sz="1600" b="1" i="1" dirty="0"/>
              <a:t>”</a:t>
            </a:r>
            <a:r>
              <a:rPr lang="en-US" sz="1600" b="1" i="1" dirty="0" err="1"/>
              <a:t>i</a:t>
            </a:r>
            <a:r>
              <a:rPr lang="en-US" sz="1600" b="1" i="1" dirty="0"/>
              <a:t>”</a:t>
            </a:r>
            <a:r>
              <a:rPr lang="en-US" sz="1600" b="1" dirty="0"/>
              <a:t> across all cells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046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105D0-461F-2E95-5B06-A8BF3B8EF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Signac </a:t>
            </a:r>
            <a:r>
              <a:rPr lang="en-US" dirty="0" err="1"/>
              <a:t>Maths</a:t>
            </a:r>
            <a:r>
              <a:rPr lang="en-US" dirty="0"/>
              <a:t> </a:t>
            </a:r>
            <a:r>
              <a:rPr lang="en-US" dirty="0" err="1"/>
              <a:t>Cont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B2DD9-6D5B-0D2F-F2C8-D34B57FF3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ED15A0-D444-60ED-0F73-D156C58756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7768547"/>
              </p:ext>
            </p:extLst>
          </p:nvPr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54213479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29215866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91683416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0177077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4016097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80875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Peak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Cell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Cell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Cell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630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1:100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067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2:100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448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Total Peaks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5631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3B39497-AC4B-D97C-EC77-5806C7F80235}"/>
              </a:ext>
            </a:extLst>
          </p:cNvPr>
          <p:cNvSpPr txBox="1"/>
          <p:nvPr/>
        </p:nvSpPr>
        <p:spPr>
          <a:xfrm>
            <a:off x="939800" y="3733800"/>
            <a:ext cx="105537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 TF(cell 1, peak 1) = 10/30 = </a:t>
            </a:r>
            <a:r>
              <a:rPr lang="en-US" b="1" dirty="0"/>
              <a:t>0.333</a:t>
            </a:r>
          </a:p>
          <a:p>
            <a:br>
              <a:rPr lang="en-US" b="1" dirty="0"/>
            </a:br>
            <a:r>
              <a:rPr lang="en-US" dirty="0"/>
              <a:t>IDF (peak 1) = 100+140/100 = </a:t>
            </a:r>
            <a:r>
              <a:rPr lang="en-US" b="1" dirty="0"/>
              <a:t>2.4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So </a:t>
            </a:r>
            <a:r>
              <a:rPr lang="en-US" b="1" dirty="0" err="1"/>
              <a:t>TFxIDF</a:t>
            </a:r>
            <a:r>
              <a:rPr lang="en-US" b="1" dirty="0"/>
              <a:t> = 0.7992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 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58792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CCDAA-953A-1479-A9E0-F723336C4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0B780-E126-9F37-0F05-28D539308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76599"/>
            <a:ext cx="10515600" cy="2900363"/>
          </a:xfrm>
        </p:spPr>
        <p:txBody>
          <a:bodyPr/>
          <a:lstStyle/>
          <a:p>
            <a:r>
              <a:rPr lang="en-US" dirty="0"/>
              <a:t>You can see that it is essentially a </a:t>
            </a:r>
            <a:r>
              <a:rPr lang="en-US" dirty="0" err="1"/>
              <a:t>normalisation</a:t>
            </a:r>
            <a:r>
              <a:rPr lang="en-US" dirty="0"/>
              <a:t> step taken directly from the peaks identified in the dataset </a:t>
            </a:r>
          </a:p>
          <a:p>
            <a:r>
              <a:rPr lang="en-US" dirty="0"/>
              <a:t>This means it is sensitive to both number of peaks identified and number of peaks per cell identified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8D8C4D-3637-B12F-4905-74CEBD439D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3706311"/>
              </p:ext>
            </p:extLst>
          </p:nvPr>
        </p:nvGraphicFramePr>
        <p:xfrm>
          <a:off x="838200" y="1690688"/>
          <a:ext cx="10515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54213479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9215866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1683416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177077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40160970"/>
                    </a:ext>
                  </a:extLst>
                </a:gridCol>
              </a:tblGrid>
              <a:tr h="295487">
                <a:tc>
                  <a:txBody>
                    <a:bodyPr/>
                    <a:lstStyle/>
                    <a:p>
                      <a:r>
                        <a:rPr lang="en-US" dirty="0"/>
                        <a:t>Peak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Cell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Cell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Cell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630477"/>
                  </a:ext>
                </a:extLst>
              </a:tr>
              <a:tr h="295487">
                <a:tc>
                  <a:txBody>
                    <a:bodyPr/>
                    <a:lstStyle/>
                    <a:p>
                      <a:r>
                        <a:rPr lang="en-US" dirty="0"/>
                        <a:t>1:100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067857"/>
                  </a:ext>
                </a:extLst>
              </a:tr>
              <a:tr h="517102">
                <a:tc>
                  <a:txBody>
                    <a:bodyPr/>
                    <a:lstStyle/>
                    <a:p>
                      <a:r>
                        <a:rPr lang="en-US" dirty="0"/>
                        <a:t>2:100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448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7104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010FF-687D-B0B1-57C9-23A4835D8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 ATAC </a:t>
            </a:r>
            <a:r>
              <a:rPr lang="en-US" dirty="0" err="1"/>
              <a:t>Maths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B2535-73D5-AFE6-85D1-3627DAA58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SnapATAC</a:t>
            </a:r>
            <a:r>
              <a:rPr lang="en-US" dirty="0"/>
              <a:t> segments the genome into uniformly sized bins (</a:t>
            </a:r>
            <a:r>
              <a:rPr lang="en-US" b="1" dirty="0"/>
              <a:t>not related to fragments) </a:t>
            </a:r>
          </a:p>
          <a:p>
            <a:r>
              <a:rPr lang="en-US" dirty="0"/>
              <a:t>Adjusts for differences in library size between cells using a regression based normalization-method</a:t>
            </a:r>
          </a:p>
          <a:p>
            <a:r>
              <a:rPr lang="en-US" dirty="0"/>
              <a:t>Genome is split into equally sized bins</a:t>
            </a:r>
          </a:p>
          <a:p>
            <a:r>
              <a:rPr lang="en-US" dirty="0"/>
              <a:t>Bins with extremely high coverage are discarded as they are predicted to be sequencing noise </a:t>
            </a:r>
          </a:p>
          <a:p>
            <a:r>
              <a:rPr lang="en-US" dirty="0"/>
              <a:t>A similarity matrix is constructed, where 1 indicated presence of expression in that cell in that bin and 0 indicates absence</a:t>
            </a:r>
          </a:p>
        </p:txBody>
      </p:sp>
    </p:spTree>
    <p:extLst>
      <p:ext uri="{BB962C8B-B14F-4D97-AF65-F5344CB8AC3E}">
        <p14:creationId xmlns:p14="http://schemas.microsoft.com/office/powerpoint/2010/main" val="232631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FE4E2-65D9-34D4-96D7-E97C5F07C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SnapATAC</a:t>
            </a:r>
            <a:r>
              <a:rPr lang="en-US" dirty="0"/>
              <a:t> </a:t>
            </a:r>
            <a:r>
              <a:rPr lang="en-US" dirty="0" err="1"/>
              <a:t>Maths</a:t>
            </a:r>
            <a:r>
              <a:rPr lang="en-US" dirty="0"/>
              <a:t> </a:t>
            </a:r>
            <a:r>
              <a:rPr lang="en-US" dirty="0" err="1"/>
              <a:t>cont</a:t>
            </a:r>
            <a:r>
              <a:rPr lang="en-US" dirty="0"/>
              <a:t> (Jaccard Index Matrix)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1E4108-A509-E41D-ECCB-88C8808486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655050"/>
              </p:ext>
            </p:extLst>
          </p:nvPr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73216233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604954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174172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49970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Cell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Cell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202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95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352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1487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52FDF1C-9967-269C-7505-738B27BC2E6D}"/>
              </a:ext>
            </a:extLst>
          </p:cNvPr>
          <p:cNvSpPr txBox="1"/>
          <p:nvPr/>
        </p:nvSpPr>
        <p:spPr>
          <a:xfrm>
            <a:off x="681445" y="3722914"/>
            <a:ext cx="108291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Jaccard index (pair of cells) = how many accessible bins they share, </a:t>
            </a:r>
            <a:r>
              <a:rPr lang="en-US" dirty="0" err="1"/>
              <a:t>normalised</a:t>
            </a:r>
            <a:r>
              <a:rPr lang="en-US" dirty="0"/>
              <a:t> by how many bins they cover in total or: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Jaccard(A,B) = A overlap B/ A union B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Jaccard(cell1, cell2) = Cell 1 accessible bins = 1, 2 /</a:t>
            </a:r>
          </a:p>
          <a:p>
            <a:r>
              <a:rPr lang="en-US" b="1" dirty="0"/>
              <a:t>		          Cell 2 accessible bins = 1, 2, 3</a:t>
            </a:r>
          </a:p>
          <a:p>
            <a:r>
              <a:rPr lang="en-US" b="1" dirty="0"/>
              <a:t>	                          = 2 overlap / 3 union = 2/3 = 0.67</a:t>
            </a:r>
          </a:p>
        </p:txBody>
      </p:sp>
    </p:spTree>
    <p:extLst>
      <p:ext uri="{BB962C8B-B14F-4D97-AF65-F5344CB8AC3E}">
        <p14:creationId xmlns:p14="http://schemas.microsoft.com/office/powerpoint/2010/main" val="3949950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9AF61-E63C-B33E-3A47-0D570FD79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C8F07-060B-4EF0-9ABA-66717591E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96789"/>
            <a:ext cx="10515600" cy="248017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has much more variability than Signac as it does not account for sequencing depth</a:t>
            </a:r>
          </a:p>
          <a:p>
            <a:r>
              <a:rPr lang="en-US" dirty="0"/>
              <a:t>A </a:t>
            </a:r>
            <a:r>
              <a:rPr lang="en-US" dirty="0" err="1"/>
              <a:t>normalisation</a:t>
            </a:r>
            <a:r>
              <a:rPr lang="en-US" dirty="0"/>
              <a:t> step is done after this to make the matrix more representative </a:t>
            </a:r>
          </a:p>
          <a:p>
            <a:r>
              <a:rPr lang="en-US" dirty="0"/>
              <a:t>The </a:t>
            </a:r>
            <a:r>
              <a:rPr lang="en-US" dirty="0" err="1"/>
              <a:t>normalisation</a:t>
            </a:r>
            <a:r>
              <a:rPr lang="en-US" dirty="0"/>
              <a:t> is OVE (observed over expected) Jaccard index under random bin accessibility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98D4FB-115A-99EE-A669-3D1B7BE1A1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5295720"/>
              </p:ext>
            </p:extLst>
          </p:nvPr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73216233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604954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174172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49970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Cell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Cell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202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95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352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148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6548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2BB3A-1C6D-50E8-F369-0B9C1856E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Jaccard Index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49D2AB-7DDF-06D6-00DC-8C0679E7B6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expected Jaccard Index can be described as 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eqArr>
                          <m:eqArr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 </m:t>
                            </m:r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−1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eqAr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Where </a:t>
                </a:r>
                <a:r>
                  <a:rPr lang="en-US" b="1" dirty="0"/>
                  <a:t>c</a:t>
                </a:r>
                <a:r>
                  <a:rPr lang="en-US" b="1" baseline="-25000" dirty="0"/>
                  <a:t>i</a:t>
                </a:r>
                <a:r>
                  <a:rPr lang="en-US" baseline="-25000" dirty="0"/>
                  <a:t> </a:t>
                </a:r>
                <a:r>
                  <a:rPr lang="en-US" dirty="0"/>
                  <a:t>and </a:t>
                </a:r>
                <a:r>
                  <a:rPr lang="en-US" b="1" dirty="0" err="1"/>
                  <a:t>c</a:t>
                </a:r>
                <a:r>
                  <a:rPr lang="en-US" b="1" baseline="-25000" dirty="0" err="1"/>
                  <a:t>j</a:t>
                </a:r>
                <a:r>
                  <a:rPr lang="en-US" b="1" baseline="-25000" dirty="0"/>
                  <a:t> </a:t>
                </a:r>
                <a:r>
                  <a:rPr lang="en-US" dirty="0"/>
                  <a:t> are the number of accessible bins in two cells (coverage)</a:t>
                </a:r>
              </a:p>
              <a:p>
                <a:r>
                  <a:rPr lang="en-US" dirty="0"/>
                  <a:t>So each cell – cell similarity is </a:t>
                </a:r>
                <a:r>
                  <a:rPr lang="en-US" dirty="0" err="1"/>
                  <a:t>normalised</a:t>
                </a:r>
                <a:r>
                  <a:rPr lang="en-US" dirty="0"/>
                  <a:t> by the expected similarity between the cells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49D2AB-7DDF-06D6-00DC-8C0679E7B6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b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2827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1EE52-2299-DE8F-1672-8AABBC58E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these differences manifest in data? </a:t>
            </a:r>
          </a:p>
        </p:txBody>
      </p:sp>
    </p:spTree>
    <p:extLst>
      <p:ext uri="{BB962C8B-B14F-4D97-AF65-F5344CB8AC3E}">
        <p14:creationId xmlns:p14="http://schemas.microsoft.com/office/powerpoint/2010/main" val="3432063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F8209-8A73-9575-88A4-4E8ED3EFE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Imogen Sample 2 (T cells only) Signac</a:t>
            </a:r>
          </a:p>
        </p:txBody>
      </p:sp>
      <p:pic>
        <p:nvPicPr>
          <p:cNvPr id="5" name="Content Placeholder 4" descr="A diagram of a number of dots&#10;&#10;Description automatically generated with medium confidence">
            <a:extLst>
              <a:ext uri="{FF2B5EF4-FFF2-40B4-BE49-F238E27FC236}">
                <a16:creationId xmlns:a16="http://schemas.microsoft.com/office/drawing/2014/main" id="{135ECCD5-8270-62CC-3EEF-E4E3655F5E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3677" y="1825625"/>
            <a:ext cx="9064645" cy="4351338"/>
          </a:xfrm>
        </p:spPr>
      </p:pic>
    </p:spTree>
    <p:extLst>
      <p:ext uri="{BB962C8B-B14F-4D97-AF65-F5344CB8AC3E}">
        <p14:creationId xmlns:p14="http://schemas.microsoft.com/office/powerpoint/2010/main" val="2435599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14DE0-FB53-4076-94D3-6CA361F4A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147B2-AED9-367E-8C6E-1675BCF44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Imogen Sample 2 (T cells only) </a:t>
            </a:r>
            <a:r>
              <a:rPr lang="en-US" dirty="0" err="1"/>
              <a:t>SnapATAC</a:t>
            </a:r>
            <a:endParaRPr lang="en-US" dirty="0"/>
          </a:p>
        </p:txBody>
      </p:sp>
      <p:pic>
        <p:nvPicPr>
          <p:cNvPr id="7" name="Content Placeholder 6" descr="A diagram of a cell type annotation&#10;&#10;Description automatically generated">
            <a:extLst>
              <a:ext uri="{FF2B5EF4-FFF2-40B4-BE49-F238E27FC236}">
                <a16:creationId xmlns:a16="http://schemas.microsoft.com/office/drawing/2014/main" id="{F6D5FB28-27F7-7EFF-3853-978F148008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739"/>
          <a:stretch/>
        </p:blipFill>
        <p:spPr>
          <a:xfrm>
            <a:off x="2468510" y="1961535"/>
            <a:ext cx="6778727" cy="4414786"/>
          </a:xfrm>
        </p:spPr>
      </p:pic>
    </p:spTree>
    <p:extLst>
      <p:ext uri="{BB962C8B-B14F-4D97-AF65-F5344CB8AC3E}">
        <p14:creationId xmlns:p14="http://schemas.microsoft.com/office/powerpoint/2010/main" val="1008072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4F545-AB49-F82B-F77B-CBC2C95E0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Py-mTCall</a:t>
            </a:r>
            <a:r>
              <a:rPr lang="en-US" dirty="0"/>
              <a:t> Method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3686F-73D2-03B8-75FC-8DAC93ED9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Follows Signac Methodology generally </a:t>
            </a:r>
          </a:p>
          <a:p>
            <a:r>
              <a:rPr lang="en-US" dirty="0"/>
              <a:t>Heavy use of </a:t>
            </a:r>
            <a:r>
              <a:rPr lang="en-US" b="1" dirty="0"/>
              <a:t>sparse arrays </a:t>
            </a:r>
            <a:r>
              <a:rPr lang="en-US" dirty="0"/>
              <a:t>for efficiency, sparse arrays are arrays where only non-zero locations are stored</a:t>
            </a:r>
          </a:p>
          <a:p>
            <a:r>
              <a:rPr lang="en-US" dirty="0"/>
              <a:t>Instead of calculating strand concordance and VMR on all positions, I calculate it only on confidently detected positions, increasing efficiency </a:t>
            </a:r>
          </a:p>
          <a:p>
            <a:r>
              <a:rPr lang="en-US" dirty="0"/>
              <a:t>Instead of calculating VAF, Strand Concordance and VMR separately, I calculate these in one step. Simplifying the calls</a:t>
            </a:r>
          </a:p>
        </p:txBody>
      </p:sp>
    </p:spTree>
    <p:extLst>
      <p:ext uri="{BB962C8B-B14F-4D97-AF65-F5344CB8AC3E}">
        <p14:creationId xmlns:p14="http://schemas.microsoft.com/office/powerpoint/2010/main" val="1827600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52C3-84DF-62DE-58A5-D2B2E833A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and Outputs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8A683-C9F0-9F0D-68B0-446771D0F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Py-mTCall</a:t>
            </a:r>
            <a:r>
              <a:rPr lang="en-US" dirty="0"/>
              <a:t> uses standard python packages and can be easily called as such: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Where the path is the directory to your </a:t>
            </a:r>
            <a:r>
              <a:rPr lang="en-US" dirty="0" err="1"/>
              <a:t>mgatk</a:t>
            </a:r>
            <a:r>
              <a:rPr lang="en-US" dirty="0"/>
              <a:t> folder and </a:t>
            </a:r>
            <a:r>
              <a:rPr lang="en-US" dirty="0" err="1"/>
              <a:t>gene_matrix</a:t>
            </a:r>
            <a:r>
              <a:rPr lang="en-US" dirty="0"/>
              <a:t> is your </a:t>
            </a:r>
            <a:r>
              <a:rPr lang="en-US" dirty="0" err="1"/>
              <a:t>adata</a:t>
            </a:r>
            <a:r>
              <a:rPr lang="en-US" dirty="0"/>
              <a:t> object </a:t>
            </a:r>
          </a:p>
          <a:p>
            <a:r>
              <a:rPr lang="en-US" dirty="0"/>
              <a:t>Entire code takes 3 minutes which is quite quick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15B003-90C8-1C62-E766-691782AA3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887" y="3097161"/>
            <a:ext cx="9918284" cy="66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563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FAA9F-2454-2DF2-A4AF-B8544E416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Py-mTCall</a:t>
            </a:r>
            <a:r>
              <a:rPr lang="en-US" dirty="0"/>
              <a:t> </a:t>
            </a:r>
            <a:r>
              <a:rPr lang="en-US" dirty="0" err="1"/>
              <a:t>adata</a:t>
            </a:r>
            <a:r>
              <a:rPr lang="en-US" dirty="0"/>
              <a:t> integration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1ABE2-BDC9-BC29-F9A8-3E29D0424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calculations are completed, the input </a:t>
            </a:r>
            <a:r>
              <a:rPr lang="en-US" dirty="0" err="1"/>
              <a:t>adata</a:t>
            </a:r>
            <a:r>
              <a:rPr lang="en-US" dirty="0"/>
              <a:t> object is copied</a:t>
            </a:r>
          </a:p>
          <a:p>
            <a:r>
              <a:rPr lang="en-US" b="1" dirty="0"/>
              <a:t>Counts</a:t>
            </a:r>
            <a:r>
              <a:rPr lang="en-US" dirty="0"/>
              <a:t> and </a:t>
            </a:r>
            <a:r>
              <a:rPr lang="en-US" b="1" dirty="0"/>
              <a:t>VAF</a:t>
            </a:r>
            <a:r>
              <a:rPr lang="en-US" dirty="0"/>
              <a:t> are added to </a:t>
            </a:r>
            <a:r>
              <a:rPr lang="en-US" i="1" dirty="0" err="1"/>
              <a:t>obs</a:t>
            </a:r>
            <a:endParaRPr lang="en-US" i="1" dirty="0"/>
          </a:p>
          <a:p>
            <a:r>
              <a:rPr lang="en-US" b="1" dirty="0"/>
              <a:t>Variance </a:t>
            </a:r>
            <a:r>
              <a:rPr lang="en-US" dirty="0"/>
              <a:t>and </a:t>
            </a:r>
            <a:r>
              <a:rPr lang="en-US" b="1" dirty="0"/>
              <a:t>Concordance</a:t>
            </a:r>
            <a:r>
              <a:rPr lang="en-US" dirty="0"/>
              <a:t> is added to </a:t>
            </a:r>
            <a:r>
              <a:rPr lang="en-US" i="1" dirty="0"/>
              <a:t>var </a:t>
            </a:r>
          </a:p>
          <a:p>
            <a:r>
              <a:rPr lang="en-US" b="1" i="1" dirty="0"/>
              <a:t>UMAP </a:t>
            </a:r>
            <a:r>
              <a:rPr lang="en-US" dirty="0"/>
              <a:t>embedding is copied back in </a:t>
            </a:r>
          </a:p>
          <a:p>
            <a:endParaRPr lang="en-US" b="1" i="1" dirty="0"/>
          </a:p>
          <a:p>
            <a:endParaRPr lang="en-US" b="1" i="1" dirty="0"/>
          </a:p>
        </p:txBody>
      </p:sp>
      <p:pic>
        <p:nvPicPr>
          <p:cNvPr id="5" name="Picture 4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AC247862-3B2F-94E2-F66D-9DB9917B2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42" y="3848713"/>
            <a:ext cx="9565558" cy="267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7982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C0DBD-D404-2953-8440-F1E8F5EB9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</a:t>
            </a:r>
            <a:r>
              <a:rPr lang="en-US" dirty="0" err="1"/>
              <a:t>adata</a:t>
            </a:r>
            <a:r>
              <a:rPr lang="en-US" dirty="0"/>
              <a:t> object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CF108-9315-C097-E3D6-4041CE582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means that the </a:t>
            </a:r>
            <a:r>
              <a:rPr lang="en-US" dirty="0" err="1"/>
              <a:t>adata</a:t>
            </a:r>
            <a:r>
              <a:rPr lang="en-US" dirty="0"/>
              <a:t> object can be inspected and shown to have all of the information it had before, but with added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482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78FF44F2-1CB2-7C8F-AF86-C50E86B1E8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9955" y="247283"/>
            <a:ext cx="7412089" cy="6363433"/>
          </a:xfrm>
        </p:spPr>
      </p:pic>
    </p:spTree>
    <p:extLst>
      <p:ext uri="{BB962C8B-B14F-4D97-AF65-F5344CB8AC3E}">
        <p14:creationId xmlns:p14="http://schemas.microsoft.com/office/powerpoint/2010/main" val="14511498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E892D-9407-B15F-75E6-F74FCFCC9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587" y="216846"/>
            <a:ext cx="10515600" cy="1325563"/>
          </a:xfrm>
        </p:spPr>
        <p:txBody>
          <a:bodyPr/>
          <a:lstStyle/>
          <a:p>
            <a:r>
              <a:rPr lang="en-US" dirty="0"/>
              <a:t>Applying </a:t>
            </a:r>
            <a:r>
              <a:rPr lang="en-US" dirty="0" err="1"/>
              <a:t>py-mTCall</a:t>
            </a:r>
            <a:endParaRPr lang="en-US" dirty="0"/>
          </a:p>
        </p:txBody>
      </p:sp>
      <p:pic>
        <p:nvPicPr>
          <p:cNvPr id="5" name="Content Placeholder 4" descr="A map of a number of dots&#10;&#10;Description automatically generated">
            <a:extLst>
              <a:ext uri="{FF2B5EF4-FFF2-40B4-BE49-F238E27FC236}">
                <a16:creationId xmlns:a16="http://schemas.microsoft.com/office/drawing/2014/main" id="{704CDF2A-D389-3E83-CDE8-D404518E03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427"/>
          <a:stretch/>
        </p:blipFill>
        <p:spPr>
          <a:xfrm>
            <a:off x="1489587" y="1542409"/>
            <a:ext cx="6651522" cy="5136731"/>
          </a:xfrm>
        </p:spPr>
      </p:pic>
    </p:spTree>
    <p:extLst>
      <p:ext uri="{BB962C8B-B14F-4D97-AF65-F5344CB8AC3E}">
        <p14:creationId xmlns:p14="http://schemas.microsoft.com/office/powerpoint/2010/main" val="429376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189DA-B9AB-C5E2-5A50-EFF332678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99918-C041-AF4D-2E85-D0B801979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Py-mTCall</a:t>
            </a:r>
            <a:r>
              <a:rPr lang="en-US" dirty="0"/>
              <a:t> does not yet include lineage tracing, which Signac supports </a:t>
            </a:r>
          </a:p>
          <a:p>
            <a:r>
              <a:rPr lang="en-US" dirty="0" err="1"/>
              <a:t>Py-mTCall</a:t>
            </a:r>
            <a:r>
              <a:rPr lang="en-US" dirty="0"/>
              <a:t> is documented by me, untested by other users </a:t>
            </a:r>
          </a:p>
          <a:p>
            <a:r>
              <a:rPr lang="en-US" dirty="0" err="1"/>
              <a:t>Py-mTCall</a:t>
            </a:r>
            <a:r>
              <a:rPr lang="en-US" dirty="0"/>
              <a:t> probably doesn’t scale well with non-sparse data </a:t>
            </a:r>
          </a:p>
          <a:p>
            <a:r>
              <a:rPr lang="en-US" dirty="0"/>
              <a:t>I wrote it, so there’s bound to be something wrong with it that I haven’t noticed yet </a:t>
            </a:r>
          </a:p>
        </p:txBody>
      </p:sp>
    </p:spTree>
    <p:extLst>
      <p:ext uri="{BB962C8B-B14F-4D97-AF65-F5344CB8AC3E}">
        <p14:creationId xmlns:p14="http://schemas.microsoft.com/office/powerpoint/2010/main" val="21258678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427F-B639-C7A8-9AD7-E2118EF09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CF9FD-2E14-2B88-6BF7-BA07E3003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74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DD1FC-0F81-1BBC-8B28-99569E4AB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Imogen Sample 1</a:t>
            </a:r>
          </a:p>
        </p:txBody>
      </p:sp>
      <p:pic>
        <p:nvPicPr>
          <p:cNvPr id="5" name="Content Placeholder 4" descr="A map of different colors&#10;&#10;Description automatically generated">
            <a:extLst>
              <a:ext uri="{FF2B5EF4-FFF2-40B4-BE49-F238E27FC236}">
                <a16:creationId xmlns:a16="http://schemas.microsoft.com/office/drawing/2014/main" id="{0AF3567F-9816-CE0A-0235-55BBBFBE7E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7023" y="1690688"/>
            <a:ext cx="7233674" cy="4613092"/>
          </a:xfrm>
        </p:spPr>
      </p:pic>
    </p:spTree>
    <p:extLst>
      <p:ext uri="{BB962C8B-B14F-4D97-AF65-F5344CB8AC3E}">
        <p14:creationId xmlns:p14="http://schemas.microsoft.com/office/powerpoint/2010/main" val="32898226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41832-832E-1575-0667-38446A7A0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map of the islands&#10;&#10;Description automatically generated">
            <a:extLst>
              <a:ext uri="{FF2B5EF4-FFF2-40B4-BE49-F238E27FC236}">
                <a16:creationId xmlns:a16="http://schemas.microsoft.com/office/drawing/2014/main" id="{CBBFCAC2-DC51-8FEF-8C17-719E71C94E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0813" y="1690688"/>
            <a:ext cx="5786489" cy="4505348"/>
          </a:xfrm>
        </p:spPr>
      </p:pic>
    </p:spTree>
    <p:extLst>
      <p:ext uri="{BB962C8B-B14F-4D97-AF65-F5344CB8AC3E}">
        <p14:creationId xmlns:p14="http://schemas.microsoft.com/office/powerpoint/2010/main" val="25605168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F7BB8-2F7A-C4A4-603B-9B0425A52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Mitochondrial Clonotyping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BA110-A83C-AB40-D86D-FF174AC59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Clonotyping generally refers to the identification of unique VDJ sequences which you can track across single cells </a:t>
            </a:r>
          </a:p>
          <a:p>
            <a:r>
              <a:rPr lang="en-US" dirty="0"/>
              <a:t>Because of Mitochondria’s high mutation rate, it is possible to use variants as a proxy for true clonality </a:t>
            </a:r>
          </a:p>
          <a:p>
            <a:r>
              <a:rPr lang="en-US" dirty="0"/>
              <a:t>The results will probably not represent ”true clones” but can still provide insights into cell development dynamics </a:t>
            </a:r>
          </a:p>
          <a:p>
            <a:r>
              <a:rPr lang="en-US" dirty="0"/>
              <a:t>Clonality analysis can also aid in identifying specific cell types and cell-specific disease progression </a:t>
            </a:r>
          </a:p>
        </p:txBody>
      </p:sp>
    </p:spTree>
    <p:extLst>
      <p:ext uri="{BB962C8B-B14F-4D97-AF65-F5344CB8AC3E}">
        <p14:creationId xmlns:p14="http://schemas.microsoft.com/office/powerpoint/2010/main" val="42811066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06731-1D46-A9A0-1344-3D4BEEB43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Signac Clonotyping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AC055-31CA-B58D-90AB-A218B9334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Cell to cell interactions are calculated by taking the square root of VAF values (to </a:t>
            </a:r>
            <a:r>
              <a:rPr lang="en-US" dirty="0" err="1"/>
              <a:t>normalise</a:t>
            </a:r>
            <a:r>
              <a:rPr lang="en-US" dirty="0"/>
              <a:t> for high VAF) </a:t>
            </a:r>
          </a:p>
          <a:p>
            <a:r>
              <a:rPr lang="en-US" dirty="0"/>
              <a:t>Cells are then clustered for similarity using Leiden or Louvain clustering to create clonotype clusters</a:t>
            </a:r>
          </a:p>
        </p:txBody>
      </p:sp>
      <p:pic>
        <p:nvPicPr>
          <p:cNvPr id="5" name="Picture 4" descr="A graph with a red line&#10;&#10;AI-generated content may be incorrect.">
            <a:extLst>
              <a:ext uri="{FF2B5EF4-FFF2-40B4-BE49-F238E27FC236}">
                <a16:creationId xmlns:a16="http://schemas.microsoft.com/office/drawing/2014/main" id="{A234123F-05C2-F668-CDB9-39A4E879D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672" y="1412875"/>
            <a:ext cx="5080000" cy="50800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72299F7-181A-87A3-7D43-54167C4E7771}"/>
              </a:ext>
            </a:extLst>
          </p:cNvPr>
          <p:cNvSpPr txBox="1">
            <a:spLocks/>
          </p:cNvSpPr>
          <p:nvPr/>
        </p:nvSpPr>
        <p:spPr>
          <a:xfrm>
            <a:off x="6650672" y="750093"/>
            <a:ext cx="4792028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sqrt of numbers 0-1  </a:t>
            </a:r>
          </a:p>
        </p:txBody>
      </p:sp>
    </p:spTree>
    <p:extLst>
      <p:ext uri="{BB962C8B-B14F-4D97-AF65-F5344CB8AC3E}">
        <p14:creationId xmlns:p14="http://schemas.microsoft.com/office/powerpoint/2010/main" val="19766465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A662D-42AE-A3D4-0BDE-1DA60FD40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Signac Clonotyping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F565B-7CF6-1E25-4472-571A13E2C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62575" cy="4351338"/>
          </a:xfrm>
        </p:spPr>
        <p:txBody>
          <a:bodyPr/>
          <a:lstStyle/>
          <a:p>
            <a:r>
              <a:rPr lang="en-US" dirty="0"/>
              <a:t>Mean VAF for each clonotype is calculated </a:t>
            </a:r>
          </a:p>
          <a:p>
            <a:r>
              <a:rPr lang="en-US" dirty="0"/>
              <a:t>Cosine similarity between clonotypes is calculated to hierarchically cluster the clonotypes </a:t>
            </a:r>
          </a:p>
          <a:p>
            <a:r>
              <a:rPr lang="en-US" dirty="0"/>
              <a:t>This allows us to see what variants contribute to the clonotypes, as some clonotypes will have overlapping variants </a:t>
            </a:r>
          </a:p>
        </p:txBody>
      </p:sp>
      <p:pic>
        <p:nvPicPr>
          <p:cNvPr id="5" name="Picture 4" descr="A close-up of a graph&#10;&#10;AI-generated content may be incorrect.">
            <a:extLst>
              <a:ext uri="{FF2B5EF4-FFF2-40B4-BE49-F238E27FC236}">
                <a16:creationId xmlns:a16="http://schemas.microsoft.com/office/drawing/2014/main" id="{0E6E6AD3-0E89-CB1E-8937-C508821381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76" r="12813" b="5412"/>
          <a:stretch>
            <a:fillRect/>
          </a:stretch>
        </p:blipFill>
        <p:spPr>
          <a:xfrm>
            <a:off x="6096000" y="1424750"/>
            <a:ext cx="6096000" cy="400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9826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11004-08F3-E437-4062-3192EBC5A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Py-</a:t>
            </a:r>
            <a:r>
              <a:rPr lang="en-US" dirty="0" err="1"/>
              <a:t>mTCall</a:t>
            </a:r>
            <a:r>
              <a:rPr lang="en-US" dirty="0"/>
              <a:t>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74E17-B200-5427-29BB-491587546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Following on from Py-</a:t>
            </a:r>
            <a:r>
              <a:rPr lang="en-US" dirty="0" err="1"/>
              <a:t>mTCall’s</a:t>
            </a:r>
            <a:r>
              <a:rPr lang="en-US" dirty="0"/>
              <a:t> successful variant identification I decided to apply clonotyping </a:t>
            </a:r>
          </a:p>
          <a:p>
            <a:r>
              <a:rPr lang="en-US" dirty="0"/>
              <a:t>Porting over from R was quite simple as the clustering functions have direct synonyms in Python </a:t>
            </a:r>
          </a:p>
          <a:p>
            <a:r>
              <a:rPr lang="en-US" dirty="0"/>
              <a:t>Since VAF has already been calculated by previous steps, the only requirement is to take the square root and then apply clustering functions </a:t>
            </a:r>
          </a:p>
        </p:txBody>
      </p:sp>
    </p:spTree>
    <p:extLst>
      <p:ext uri="{BB962C8B-B14F-4D97-AF65-F5344CB8AC3E}">
        <p14:creationId xmlns:p14="http://schemas.microsoft.com/office/powerpoint/2010/main" val="29729698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0BCAA-5796-BB6D-ED78-1B58C00C5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Result </a:t>
            </a:r>
          </a:p>
        </p:txBody>
      </p:sp>
      <p:pic>
        <p:nvPicPr>
          <p:cNvPr id="5" name="Content Placeholder 4" descr="A chart of different colors&#10;&#10;AI-generated content may be incorrect.">
            <a:extLst>
              <a:ext uri="{FF2B5EF4-FFF2-40B4-BE49-F238E27FC236}">
                <a16:creationId xmlns:a16="http://schemas.microsoft.com/office/drawing/2014/main" id="{8B88FD10-B17F-046B-B74C-F921B0F0AA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322" b="2030"/>
          <a:stretch>
            <a:fillRect/>
          </a:stretch>
        </p:blipFill>
        <p:spPr>
          <a:xfrm>
            <a:off x="2851688" y="1564077"/>
            <a:ext cx="6137329" cy="4681741"/>
          </a:xfrm>
        </p:spPr>
      </p:pic>
    </p:spTree>
    <p:extLst>
      <p:ext uri="{BB962C8B-B14F-4D97-AF65-F5344CB8AC3E}">
        <p14:creationId xmlns:p14="http://schemas.microsoft.com/office/powerpoint/2010/main" val="1279184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10081</TotalTime>
  <Words>1446</Words>
  <Application>Microsoft Macintosh PowerPoint</Application>
  <PresentationFormat>Widescreen</PresentationFormat>
  <Paragraphs>212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Cambria Math</vt:lpstr>
      <vt:lpstr>Office Theme</vt:lpstr>
      <vt:lpstr>Making Py-mTCall</vt:lpstr>
      <vt:lpstr>PowerPoint Presentation</vt:lpstr>
      <vt:lpstr>Mitochondrial Variant Calling </vt:lpstr>
      <vt:lpstr>Signac variant filtering method </vt:lpstr>
      <vt:lpstr>Red cells indicate good mutation calls (NOT CELLS)</vt:lpstr>
      <vt:lpstr>Integrating ATAC-Seq data with mitochondrial variant calling </vt:lpstr>
      <vt:lpstr>Computational Challenges with scATAC-Seq</vt:lpstr>
      <vt:lpstr>scATAC-Seq Method Comparison</vt:lpstr>
      <vt:lpstr>Maths: Signac</vt:lpstr>
      <vt:lpstr>Signac Maths Cont</vt:lpstr>
      <vt:lpstr>Results </vt:lpstr>
      <vt:lpstr>Snap ATAC Maths </vt:lpstr>
      <vt:lpstr>SnapATAC Maths cont (Jaccard Index Matrix)</vt:lpstr>
      <vt:lpstr>Results </vt:lpstr>
      <vt:lpstr>Expected Jaccard Index</vt:lpstr>
      <vt:lpstr>How do these differences manifest in data? </vt:lpstr>
      <vt:lpstr>Imogen Sample 2 (T cells only) Signac</vt:lpstr>
      <vt:lpstr>Imogen Sample 2 (T cells only) SnapATAC</vt:lpstr>
      <vt:lpstr>Py-mTCall Method </vt:lpstr>
      <vt:lpstr>Usage and Outputs </vt:lpstr>
      <vt:lpstr>Py-mTCall adata integration </vt:lpstr>
      <vt:lpstr>Final adata object </vt:lpstr>
      <vt:lpstr>PowerPoint Presentation</vt:lpstr>
      <vt:lpstr>Applying py-mTCall</vt:lpstr>
      <vt:lpstr>Limitations </vt:lpstr>
      <vt:lpstr>Extra</vt:lpstr>
      <vt:lpstr>Imogen Sample 1</vt:lpstr>
      <vt:lpstr>PowerPoint Presentation</vt:lpstr>
      <vt:lpstr>Mitochondrial Clonotyping</vt:lpstr>
      <vt:lpstr>Signac Clonotyping </vt:lpstr>
      <vt:lpstr>Signac Clonotyping </vt:lpstr>
      <vt:lpstr>Py-mTCall Implementation</vt:lpstr>
      <vt:lpstr>Example Result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Cortes</dc:creator>
  <cp:lastModifiedBy>Lucas Cortes</cp:lastModifiedBy>
  <cp:revision>9</cp:revision>
  <dcterms:created xsi:type="dcterms:W3CDTF">2025-06-17T15:17:13Z</dcterms:created>
  <dcterms:modified xsi:type="dcterms:W3CDTF">2025-09-18T12:32:54Z</dcterms:modified>
</cp:coreProperties>
</file>